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feba1739e34a0e" /><Relationship Type="http://schemas.openxmlformats.org/officeDocument/2006/relationships/extended-properties" Target="/docProps/app.xml" Id="R76f740d0440d43e1" /><Relationship Type="http://schemas.openxmlformats.org/officeDocument/2006/relationships/officeDocument" Target="/ppt/presentation.xml" Id="R6c099454874546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d48a4205174c4d"/>
  </p:sldMasterIdLst>
  <p:notesMasterIdLst>
    <p:notesMasterId xmlns:r="http://schemas.openxmlformats.org/officeDocument/2006/relationships" r:id="R81181b0076dd4eba"/>
  </p:notesMasterIdLst>
  <p:sldIdLst>
    <p:sldId xmlns:r="http://schemas.openxmlformats.org/officeDocument/2006/relationships" id="256" r:id="R3f2e77587e14487f"/>
    <p:sldId xmlns:r="http://schemas.openxmlformats.org/officeDocument/2006/relationships" id="257" r:id="R21033e19626a48be"/>
    <p:sldId xmlns:r="http://schemas.openxmlformats.org/officeDocument/2006/relationships" id="258" r:id="R03418fdeaadb4626"/>
    <p:sldId xmlns:r="http://schemas.openxmlformats.org/officeDocument/2006/relationships" id="259" r:id="R6f4d7d4ab6c0418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ee9658f9af45be" /><Relationship Type="http://schemas.openxmlformats.org/officeDocument/2006/relationships/slideMaster" Target="/ppt/slideMasters/slideMaster1.xml" Id="R80d48a4205174c4d" /><Relationship Type="http://schemas.openxmlformats.org/officeDocument/2006/relationships/notesMaster" Target="/ppt/notesMasters/notesMaster1.xml" Id="R81181b0076dd4eba" /><Relationship Type="http://schemas.openxmlformats.org/officeDocument/2006/relationships/presProps" Target="/ppt/presProps.xml" Id="R1db646c8f9454e64" /><Relationship Type="http://schemas.openxmlformats.org/officeDocument/2006/relationships/tableStyles" Target="/ppt/tableStyles.xml" Id="Rce46039d7f564591" /><Relationship Type="http://schemas.openxmlformats.org/officeDocument/2006/relationships/slide" Target="/ppt/slides/slide1.xml" Id="R3f2e77587e14487f" /><Relationship Type="http://schemas.openxmlformats.org/officeDocument/2006/relationships/slide" Target="/ppt/slides/slide2.xml" Id="R21033e19626a48be" /><Relationship Type="http://schemas.openxmlformats.org/officeDocument/2006/relationships/slide" Target="/ppt/slides/slide3.xml" Id="R03418fdeaadb4626" /><Relationship Type="http://schemas.openxmlformats.org/officeDocument/2006/relationships/slide" Target="/ppt/slides/slide4.xml" Id="R6f4d7d4ab6c041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37033abe8843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11a207da944937" /><Relationship Type="http://schemas.openxmlformats.org/officeDocument/2006/relationships/notesMaster" Target="/ppt/notesMasters/notesMaster1.xml" Id="R565fcd95d9a148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8ee9f19166417c" /><Relationship Type="http://schemas.openxmlformats.org/officeDocument/2006/relationships/notesMaster" Target="/ppt/notesMasters/notesMaster1.xml" Id="R97d74386e99b46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b03b0989f34073" /><Relationship Type="http://schemas.openxmlformats.org/officeDocument/2006/relationships/notesMaster" Target="/ppt/notesMasters/notesMaster1.xml" Id="R641cd537cc7845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a351e473cd40b1" /><Relationship Type="http://schemas.openxmlformats.org/officeDocument/2006/relationships/notesMaster" Target="/ppt/notesMasters/notesMaster1.xml" Id="Ra4ba7679230f45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cbfc3932c440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94fb3f32454851" /><Relationship Type="http://schemas.openxmlformats.org/officeDocument/2006/relationships/slideLayout" Target="/ppt/slideLayouts/slideLayout1.xml" Id="R964a115f2d914f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4a115f2d914f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6ac36162094020" /><Relationship Type="http://schemas.openxmlformats.org/officeDocument/2006/relationships/notesSlide" Target="/ppt/notesSlides/notesSlide1.xml" Id="R3378f93ba26148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6bf29bf5d4013" /><Relationship Type="http://schemas.openxmlformats.org/officeDocument/2006/relationships/notesSlide" Target="/ppt/notesSlides/notesSlide2.xml" Id="R38aa0b495b7347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8085124a7b4686" /><Relationship Type="http://schemas.openxmlformats.org/officeDocument/2006/relationships/notesSlide" Target="/ppt/notesSlides/notesSlide3.xml" Id="R4d74b5380e7a44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25abfc6644861" /><Relationship Type="http://schemas.openxmlformats.org/officeDocument/2006/relationships/chart" Target="/ppt/slides/charts/chart1.xml" Id="R5edd00f591404c75" /><Relationship Type="http://schemas.openxmlformats.org/officeDocument/2006/relationships/notesSlide" Target="/ppt/notesSlides/notesSlide4.xml" Id="Rc66d286f10aa42e7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每周少重写小时数</c:v>
          </c:tx>
          <c:spPr>
            <a:solidFill xmlns:a="http://schemas.openxmlformats.org/drawingml/2006/main">
              <a:srgbClr val="C96A1B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无蒸馏</c:v>
              </c:pt>
              <c:pt idx="1">
                <c:v>个人</c:v>
              </c:pt>
              <c:pt idx="2">
                <c:v>团队</c:v>
              </c:pt>
            </c:strLit>
          </c:cat>
          <c:val>
            <c:numLit>
              <c:formatCode>General</c:formatCode>
              <c:ptCount val="3"/>
              <c:pt idx="0">
                <c:v>0.5</c:v>
              </c:pt>
              <c:pt idx="1">
                <c:v>2.2</c:v>
              </c:pt>
              <c:pt idx="2">
                <c:v>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CDBE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61BDC2-ABC6-47AB-9822-98608A3A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A1B"/>
          </a:solidFill>
          <a:ln xmlns:a="http://schemas.openxmlformats.org/drawingml/2006/main" w="0">
            <a:solidFill>
              <a:srgbClr val="C96A1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76E1A-2317-4DF7-8BE0-85A4CC5A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-1524000"/>
            <a:ext cx="3619500" cy="3619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040237-4C17-4D9D-B7EE-A094DA25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5300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50AE6-73A4-4BBD-8CEC-243BA3A1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7534E"/>
                </a:solidFill>
              </a:defRPr>
            </a:pPr>
            <a:r>
              <a:rPr sz="825" b="1">
                <a:solidFill>
                  <a:srgbClr val="57534E"/>
                </a:solidFill>
              </a:rPr>
              <a:t>手艺人蒸馏器 xs / 3 min internal pre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31420-5F4E-48B4-BC92-69AF840A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860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7534E"/>
                </a:solidFill>
              </a:defRPr>
            </a:pPr>
            <a:r>
              <a:rPr sz="825" b="1">
                <a:solidFill>
                  <a:srgbClr val="57534E"/>
                </a:solidFill>
              </a:rPr>
              <a:t>1/4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7CFDD0-07E4-4885-AB33-359A04F8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FE219C-CA7F-4891-A889-23D54666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6A1B"/>
                </a:solidFill>
              </a:defRPr>
            </a:pPr>
            <a:r>
              <a:rPr sz="900" b="1">
                <a:solidFill>
                  <a:srgbClr val="C96A1B"/>
                </a:solidFill>
              </a:rPr>
              <a:t>3 分钟版 / 内部预演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3EDEB8-F236-466D-B707-EEE2B539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628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71717"/>
                </a:solidFill>
              </a:defRPr>
            </a:pPr>
            <a:r>
              <a:rPr sz="4350" b="1">
                <a:solidFill>
                  <a:srgbClr val="171717"/>
                </a:solidFill>
              </a:rPr>
              <a:t>手艺人蒸馏器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4E0023-F62E-4482-A03D-0C256D9A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657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7534E"/>
                </a:solidFill>
              </a:defRPr>
            </a:pPr>
            <a:r>
              <a:rPr sz="2100" b="0">
                <a:solidFill>
                  <a:srgbClr val="57534E"/>
                </a:solidFill>
              </a:rPr>
              <a:t>把社畜踩出来的活路，炼成下次不用重写的工具、熟路和团队资产。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0CA5D-3AEA-49C0-AA73-9C427CF2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1717"/>
                </a:solidFill>
              </a:defRPr>
            </a:pPr>
            <a:r>
              <a:rPr sz="1500" b="0">
                <a:solidFill>
                  <a:srgbClr val="171717"/>
                </a:solidFill>
              </a:rPr>
              <a:t>今天只讲：一个例子、它为什么值得做、终局长什么样。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A3DC2-1D7C-436A-8E24-E7199108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504950"/>
            <a:ext cx="3162300" cy="2990850"/>
          </a:xfrm>
          <a:prstGeom xmlns:a="http://schemas.openxmlformats.org/drawingml/2006/main" prst="roundRect">
            <a:avLst>
              <a:gd name="adj" fmla="val 7643"/>
            </a:avLst>
          </a:prstGeom>
          <a:solidFill xmlns:a="http://schemas.openxmlformats.org/drawingml/2006/main">
            <a:srgbClr val="24211D"/>
          </a:solidFill>
          <a:ln xmlns:a="http://schemas.openxmlformats.org/drawingml/2006/main" w="0">
            <a:solidFill>
              <a:srgbClr val="24211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FE436-C9B7-45CF-A7D7-E9D0F196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47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7E5E4"/>
                </a:solidFill>
              </a:defRPr>
            </a:pPr>
            <a:r>
              <a:rPr sz="1275" b="1">
                <a:solidFill>
                  <a:srgbClr val="E7E5E4"/>
                </a:solidFill>
              </a:rPr>
              <a:t>今天就 3 句话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099A6-A156-45F3-9409-F90EC1D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431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779157-97A7-4908-B2B7-BB319662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43150"/>
            <a:ext cx="1943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杂活永远有人做，但总是很难留下来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1EC55-345E-490C-8393-E2506967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9146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8EDD5B-3F2D-42A9-9809-FE9F70EE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14650"/>
            <a:ext cx="1943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蒸馏器保存的不是文档，而是“这套做法”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B5027B-578F-49A7-A7CD-6BEF1DD7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4861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6E1868-2CB5-435B-85C0-502F5CDE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86150"/>
            <a:ext cx="1943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终局不是个人外挂，而是项目组熟路网</a:t>
            </a:r>
          </a:p>
        </p:txBody>
      </p:sp>
    </p:spTree>
    <p:extLst>
      <p:ext uri="{BB962C8B-B14F-4D97-AF65-F5344CB8AC3E}">
        <p14:creationId xmlns:p14="http://schemas.microsoft.com/office/powerpoint/2010/main" val="1060505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2E2293-0F3E-478C-9EF3-EADD8A55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A1B"/>
          </a:solidFill>
          <a:ln xmlns:a="http://schemas.openxmlformats.org/drawingml/2006/main" w="0">
            <a:solidFill>
              <a:srgbClr val="C96A1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ABB31-A5EF-4389-A556-FFA2E908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-1524000"/>
            <a:ext cx="3619500" cy="3619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9CDEC-25FD-4887-B6ED-6D78A94F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5300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F5F4FD-86B8-4976-BAB5-23E6710F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7534E"/>
                </a:solidFill>
              </a:defRPr>
            </a:pPr>
            <a:r>
              <a:rPr sz="825" b="1">
                <a:solidFill>
                  <a:srgbClr val="57534E"/>
                </a:solidFill>
              </a:rPr>
              <a:t>手艺人蒸馏器 xs / 3 min internal pre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C53FC-7FD5-4689-84F9-4457C6EC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860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7534E"/>
                </a:solidFill>
              </a:defRPr>
            </a:pPr>
            <a:r>
              <a:rPr sz="825" b="1">
                <a:solidFill>
                  <a:srgbClr val="57534E"/>
                </a:solidFill>
              </a:rPr>
              <a:t>2/4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C68DB-8B78-4C1F-88B7-07A9FECE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1717"/>
                </a:solidFill>
              </a:defRPr>
            </a:pPr>
            <a:r>
              <a:rPr sz="2625" b="1">
                <a:solidFill>
                  <a:srgbClr val="171717"/>
                </a:solidFill>
              </a:rPr>
              <a:t>终局：共享核心能力，前台按人显形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4A60EA-01E7-474A-9E08-BCB0211E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95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534E"/>
                </a:solidFill>
              </a:defRPr>
            </a:pPr>
            <a:r>
              <a:rPr sz="1350" b="0">
                <a:solidFill>
                  <a:srgbClr val="57534E"/>
                </a:solidFill>
              </a:rPr>
              <a:t>不是每个人共用一个通用 app，而是把别人已经踩出来的做法，直接推成对方会用的工具。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EB9B9-3F6B-4EA5-9685-8EBA03B7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00400" cy="2495550"/>
          </a:xfrm>
          <a:prstGeom xmlns:a="http://schemas.openxmlformats.org/drawingml/2006/main" prst="roundRect">
            <a:avLst>
              <a:gd name="adj" fmla="val 916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CDB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1F7698-6647-490A-93E2-FF5620FA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800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46797-D2F8-4B1A-AFE9-D082E9AC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1 今天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7DEB66-ED2F-400D-9B7B-705D82C6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1717"/>
                </a:solidFill>
              </a:defRPr>
            </a:pPr>
            <a:r>
              <a:rPr sz="1950" b="1">
                <a:solidFill>
                  <a:srgbClr val="171717"/>
                </a:solidFill>
              </a:rPr>
              <a:t>每个人都在调自己的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98D0B-5C5C-431D-B46C-6804B064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70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</a:defRPr>
            </a:pPr>
            <a:r>
              <a:rPr sz="1200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37EC91-9EB1-4AFF-AB1C-E6F81E47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</a:defRPr>
            </a:pPr>
            <a:r>
              <a:rPr sz="1200" b="0">
                <a:solidFill>
                  <a:srgbClr val="171717"/>
                </a:solidFill>
              </a:rPr>
              <a:t>有人爱高密度，有人只要安静清单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7B73B-851E-42A6-8E85-D254C8FF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</a:defRPr>
            </a:pPr>
            <a:r>
              <a:rPr sz="1200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87C522-63BE-4D5B-B2F3-11619411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</a:defRPr>
            </a:pPr>
            <a:r>
              <a:rPr sz="1200" b="0">
                <a:solidFill>
                  <a:srgbClr val="171717"/>
                </a:solidFill>
              </a:rPr>
              <a:t>很多怪问题，别人其实已经踩过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969A9-57BD-46D2-9815-24EFFAC7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</a:defRPr>
            </a:pPr>
            <a:r>
              <a:rPr sz="1200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69C73-8AA3-4AF4-B625-8A6F046F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</a:defRPr>
            </a:pPr>
            <a:r>
              <a:rPr sz="1200" b="0">
                <a:solidFill>
                  <a:srgbClr val="171717"/>
                </a:solidFill>
              </a:rPr>
              <a:t>但修法、prompt、结构都烂在个人库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8AAE87-FDF3-4558-8F94-145DD775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790700"/>
            <a:ext cx="3200400" cy="2495550"/>
          </a:xfrm>
          <a:prstGeom xmlns:a="http://schemas.openxmlformats.org/drawingml/2006/main" prst="roundRect">
            <a:avLst>
              <a:gd name="adj" fmla="val 9160"/>
            </a:avLst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FCDFA9-F2C5-48DF-81A1-287E65CC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19300"/>
            <a:ext cx="1104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F1260C-210A-41BB-A4A1-A34F0474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2 如果能推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E38B3F-9559-413F-A5A1-E5848C13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7"/>
                </a:solidFill>
              </a:defRPr>
            </a:pPr>
            <a:r>
              <a:rPr sz="127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1D1E33-1BC0-4F2C-8AEC-2D18F31F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241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</a:defRPr>
            </a:pPr>
            <a:r>
              <a:rPr sz="1275" b="0">
                <a:solidFill>
                  <a:srgbClr val="171717"/>
                </a:solidFill>
              </a:rPr>
              <a:t>把 repair / prompt / flow 蒸成一个 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BD3AF0-0645-4902-B7B9-8D520E77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385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7"/>
                </a:solidFill>
              </a:defRPr>
            </a:pPr>
            <a:r>
              <a:rPr sz="127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6C1E1B-EFBF-4187-909E-8935D40D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</a:defRPr>
            </a:pPr>
            <a:r>
              <a:rPr sz="1275" b="0">
                <a:solidFill>
                  <a:srgbClr val="171717"/>
                </a:solidFill>
              </a:rPr>
              <a:t>发给另一个人的个人库或团队库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D1926E-A2B4-429B-89AB-BDEA058A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528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7"/>
                </a:solidFill>
              </a:defRPr>
            </a:pPr>
            <a:r>
              <a:rPr sz="127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F6732B-306E-43BA-B565-7D0AAC95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528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</a:defRPr>
            </a:pPr>
            <a:r>
              <a:rPr sz="1275" b="0">
                <a:solidFill>
                  <a:srgbClr val="171717"/>
                </a:solidFill>
              </a:rPr>
              <a:t>到了对方那里，不必保持原样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74AE52-6042-4B9D-8772-5BE6AA06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90700"/>
            <a:ext cx="3695700" cy="2495550"/>
          </a:xfrm>
          <a:prstGeom xmlns:a="http://schemas.openxmlformats.org/drawingml/2006/main" prst="roundRect">
            <a:avLst>
              <a:gd name="adj" fmla="val 916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CDB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C25606-7EB9-4A99-86C6-1416E743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19300"/>
            <a:ext cx="800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EE3A3D-D51D-4501-B932-FCCF0030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6A1B"/>
                </a:solidFill>
              </a:defRPr>
            </a:pPr>
            <a:r>
              <a:rPr sz="900" b="1">
                <a:solidFill>
                  <a:srgbClr val="C96A1B"/>
                </a:solidFill>
              </a:rPr>
              <a:t>终局感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5BE9AD-D088-480F-936C-50C55946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7"/>
                </a:solidFill>
              </a:defRPr>
            </a:pPr>
            <a:r>
              <a:rPr sz="127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A17753-0AF4-4980-B658-CF3CA7BD9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</a:defRPr>
            </a:pPr>
            <a:r>
              <a:rPr sz="1275" b="0">
                <a:solidFill>
                  <a:srgbClr val="171717"/>
                </a:solidFill>
              </a:rPr>
              <a:t>共享的是核心能力，不是同一套界面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27D02A-92A9-4186-AFAE-48809889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385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7"/>
                </a:solidFill>
              </a:defRPr>
            </a:pPr>
            <a:r>
              <a:rPr sz="127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358E3C-975B-4E62-8C0A-07D84B68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</a:defRPr>
            </a:pPr>
            <a:r>
              <a:rPr sz="1275" b="0">
                <a:solidFill>
                  <a:srgbClr val="171717"/>
                </a:solidFill>
              </a:rPr>
              <a:t>前台会按对方知识库、审美、权限重新长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354226-25EC-4236-95A8-4690F7D3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528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1717"/>
                </a:solidFill>
              </a:defRPr>
            </a:pPr>
            <a:r>
              <a:rPr sz="127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211B66-56DF-4659-BA2A-DB7B62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1717"/>
                </a:solidFill>
              </a:defRPr>
            </a:pPr>
            <a:r>
              <a:rPr sz="1275" b="0">
                <a:solidFill>
                  <a:srgbClr val="171717"/>
                </a:solidFill>
              </a:rPr>
              <a:t>最后真正通用的，只剩同步、审查、权限、血缘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A73095-77FA-41A7-A6A8-9067C48C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2724150" cy="10858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11D"/>
          </a:solidFill>
          <a:ln xmlns:a="http://schemas.openxmlformats.org/drawingml/2006/main" w="0">
            <a:solidFill>
              <a:srgbClr val="24211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B8341B-04B9-4E91-9D14-B0C409E2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2019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甲：偏高密度控制台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412BE0-228C-4A49-966F-3204EB9C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7E5E4"/>
                </a:solidFill>
              </a:defRPr>
            </a:pPr>
            <a:r>
              <a:rPr sz="1200" b="0">
                <a:solidFill>
                  <a:srgbClr val="E7E5E4"/>
                </a:solidFill>
              </a:rPr>
              <a:t>把 repair、fallback、review 都堆在一屏。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B40107-14A3-4E2F-A2E9-18CC3713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673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96A1B"/>
                </a:solidFill>
              </a:defRPr>
            </a:pPr>
            <a:r>
              <a:rPr sz="2550" b="1">
                <a:solidFill>
                  <a:srgbClr val="C96A1B"/>
                </a:solidFill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2ABE0E-3647-477F-BF03-C601D7B2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648200"/>
            <a:ext cx="2724150" cy="10858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CC689B-3E3C-4BD6-AFAB-929CDBA1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768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</a:defRPr>
            </a:pPr>
            <a:r>
              <a:rPr sz="1500" b="1">
                <a:solidFill>
                  <a:srgbClr val="171717"/>
                </a:solidFill>
              </a:rPr>
              <a:t>中间推送的不是界面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A3527C-4FA2-4F34-A2EA-14CEEAFE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197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而是蒸馏后的做法、repair 和 flow。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3A2C78-8DAA-4E39-922E-AD6415FA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0673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96A1B"/>
                </a:solidFill>
              </a:defRPr>
            </a:pPr>
            <a:r>
              <a:rPr sz="2550" b="1">
                <a:solidFill>
                  <a:srgbClr val="C96A1B"/>
                </a:solidFill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117CA5-22FA-49A0-B1FD-BF061D62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48200"/>
            <a:ext cx="3695700" cy="10858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CDB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82D4BA-8B45-4BA1-A3E3-F9A4EE2F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76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</a:defRPr>
            </a:pPr>
            <a:r>
              <a:rPr sz="1500" b="1">
                <a:solidFill>
                  <a:srgbClr val="171717"/>
                </a:solidFill>
              </a:rPr>
              <a:t>乙：偏极简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3B2060-8B74-4A1A-BBF7-E45CCC76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19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收到后，按他的知识库长成清单、面板或 agent。</a:t>
            </a:r>
          </a:p>
        </p:txBody>
      </p:sp>
    </p:spTree>
    <p:extLst>
      <p:ext uri="{BB962C8B-B14F-4D97-AF65-F5344CB8AC3E}">
        <p14:creationId xmlns:p14="http://schemas.microsoft.com/office/powerpoint/2010/main" val="6474987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C7C144-6E55-48F1-BE49-51F431BB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A1B"/>
          </a:solidFill>
          <a:ln xmlns:a="http://schemas.openxmlformats.org/drawingml/2006/main" w="0">
            <a:solidFill>
              <a:srgbClr val="C96A1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47B2FE-7726-47B8-BA24-A8611B65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-1524000"/>
            <a:ext cx="3619500" cy="3619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7ED90-7254-4328-89ED-40FF03B1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5300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277DC7-289B-4D7A-B7AE-B29004E3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7534E"/>
                </a:solidFill>
              </a:defRPr>
            </a:pPr>
            <a:r>
              <a:rPr sz="825" b="1">
                <a:solidFill>
                  <a:srgbClr val="57534E"/>
                </a:solidFill>
              </a:rPr>
              <a:t>手艺人蒸馏器 xs / 3 min internal pre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1A123A-53FF-4371-AF25-B2C58712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860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7534E"/>
                </a:solidFill>
              </a:defRPr>
            </a:pPr>
            <a:r>
              <a:rPr sz="825" b="1">
                <a:solidFill>
                  <a:srgbClr val="57534E"/>
                </a:solidFill>
              </a:rPr>
              <a:t>3/4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8E2F7-9FE5-4B52-BBB6-DA50C576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1717"/>
                </a:solidFill>
              </a:defRPr>
            </a:pPr>
            <a:r>
              <a:rPr sz="2625" b="1">
                <a:solidFill>
                  <a:srgbClr val="171717"/>
                </a:solidFill>
              </a:rPr>
              <a:t>doc2md 这个杂活，正好能看到它怎么长出来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D5FD69-B0D7-44CE-ACC5-94AF9117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95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534E"/>
                </a:solidFill>
              </a:defRPr>
            </a:pPr>
            <a:r>
              <a:rPr sz="1350" b="0">
                <a:solidFill>
                  <a:srgbClr val="57534E"/>
                </a:solidFill>
              </a:rPr>
              <a:t>任务现场 -&gt; 手搓修法 -&gt; 代码年轮。蒸馏器想保住的，是后面两件事。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FB9D0-12F1-40DF-8352-76AB2854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028950" cy="156210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CDB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FF4A3-8D8B-4A7B-85F2-2272B825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781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CC516-950E-46B3-A0DD-997859BC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5740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任务现场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A0D45-C485-44A4-82AC-C45A2953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717"/>
                </a:solidFill>
              </a:defRPr>
            </a:pPr>
            <a:r>
              <a:rPr sz="1875" b="1">
                <a:solidFill>
                  <a:srgbClr val="171717"/>
                </a:solidFill>
              </a:rPr>
              <a:t>新人接手资料包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E6F87D-0FAE-4AEE-95A2-4A2B602F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717"/>
                </a:solidFill>
              </a:defRPr>
            </a:pPr>
            <a:r>
              <a:rPr sz="112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248FF-FFAB-4474-A3A3-F5CCBB71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</a:defRPr>
            </a:pPr>
            <a:r>
              <a:rPr sz="1125" b="0">
                <a:solidFill>
                  <a:srgbClr val="171717"/>
                </a:solidFill>
              </a:rPr>
              <a:t>pdf、docx、xlsx 混在一起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CA239F-29C2-4CED-BD65-4CB7B5C0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717"/>
                </a:solidFill>
              </a:defRPr>
            </a:pPr>
            <a:r>
              <a:rPr sz="112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6678B9-0C40-4B90-AC6B-C0CECFA1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62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</a:defRPr>
            </a:pPr>
            <a:r>
              <a:rPr sz="1125" b="0">
                <a:solidFill>
                  <a:srgbClr val="171717"/>
                </a:solidFill>
              </a:rPr>
              <a:t>图片散在子目录里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EB852-96E1-407A-9F92-4D78C4A2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3028950" cy="1390650"/>
          </a:xfrm>
          <a:prstGeom xmlns:a="http://schemas.openxmlformats.org/drawingml/2006/main" prst="roundRect">
            <a:avLst>
              <a:gd name="adj" fmla="val 16438"/>
            </a:avLst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128B37-9C53-44D5-8D0A-68D6FDD6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781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196788-5703-4372-B1CD-7437CF81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71900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于是手搓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09CC7D-6C23-4507-90C0-47D9BA1D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717"/>
                </a:solidFill>
              </a:defRPr>
            </a:pPr>
            <a:r>
              <a:rPr sz="112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82CA81-CC21-43D8-A81D-61F7F3F1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</a:defRPr>
            </a:pPr>
            <a:r>
              <a:rPr sz="1125" b="0">
                <a:solidFill>
                  <a:srgbClr val="171717"/>
                </a:solidFill>
              </a:rPr>
              <a:t>先扫目录，补 pdf / docx 分支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F85A1-D232-4632-983E-634D33FA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1717"/>
                </a:solidFill>
              </a:defRPr>
            </a:pPr>
            <a:r>
              <a:rPr sz="112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71F6DB-B9DD-469E-9497-37BC0C96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958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</a:defRPr>
            </a:pPr>
            <a:r>
              <a:rPr sz="1125" b="0">
                <a:solidFill>
                  <a:srgbClr val="171717"/>
                </a:solidFill>
              </a:rPr>
              <a:t>路径、图片坏了就 repair，不行再 fallback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FCBB34-4A8D-47F6-AD9C-EE35F813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7534E"/>
                </a:solidFill>
              </a:defRPr>
            </a:pPr>
            <a:r>
              <a:rPr sz="1050" b="0">
                <a:solidFill>
                  <a:srgbClr val="57534E"/>
                </a:solidFill>
              </a:rPr>
              <a:t>一周后：脚本还在，但只有自己看得懂。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BED31D-4288-4295-8EE3-3D4DE128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790700"/>
            <a:ext cx="7162800" cy="6858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4211D"/>
          </a:solidFill>
          <a:ln xmlns:a="http://schemas.openxmlformats.org/drawingml/2006/main" w="0">
            <a:solidFill>
              <a:srgbClr val="24211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23FD5C-C6DE-442F-8437-088090B6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981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但 `doc2md` 后来没有停在脚本阶段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22AC2D-74EB-4EED-ABB5-63B0D93D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1930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D6D3D1"/>
                </a:solidFill>
              </a:defRPr>
            </a:pPr>
            <a:r>
              <a:rPr sz="1200" b="0">
                <a:solidFill>
                  <a:srgbClr val="D6D3D1"/>
                </a:solidFill>
              </a:rPr>
              <a:t>它开始长出看得见的几圈年轮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20B9D3-5B37-4564-BFF1-DCBC6504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647950"/>
            <a:ext cx="3467100" cy="1219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CDB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9FFB42-6DB1-4D4F-BD10-B0562303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76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1717"/>
                </a:solidFill>
              </a:defRPr>
            </a:pPr>
            <a:r>
              <a:rPr sz="1950" b="1">
                <a:solidFill>
                  <a:srgbClr val="171717"/>
                </a:solidFill>
              </a:rPr>
              <a:t>先长分支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632CA6-3DA5-456B-BA61-1B059EF3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14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suffix 分流</a:t>
            </a:r>
          </a:p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pdf / docx / xlsx / pptx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A7EBEA-4471-4CB2-962B-9EE0BA43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47950"/>
            <a:ext cx="3467100" cy="1219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ECD83E-770E-4B19-AFFA-03ED5C1C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76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1717"/>
                </a:solidFill>
              </a:defRPr>
            </a:pPr>
            <a:r>
              <a:rPr sz="1950" b="1">
                <a:solidFill>
                  <a:srgbClr val="171717"/>
                </a:solidFill>
              </a:rPr>
              <a:t>补坏样本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413B28-C512-47D0-A087-E2DD2793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14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扫描 PDF -&gt; _is_scanned</a:t>
            </a:r>
          </a:p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坏 docx -&gt; _repair_docx_relationships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420F08-9B76-45D2-ADA2-F10F0888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3467100" cy="1219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113099-F9D9-4824-852A-1A80226D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24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1717"/>
                </a:solidFill>
              </a:defRPr>
            </a:pPr>
            <a:r>
              <a:rPr sz="1950" b="1">
                <a:solidFill>
                  <a:srgbClr val="171717"/>
                </a:solidFill>
              </a:rPr>
              <a:t>挂通用兜底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64201FC-4D12-43BD-A685-8D7DA6AD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兜不住的格式</a:t>
            </a:r>
          </a:p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走 generic / markitdown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EB1D28-CC65-44E5-8737-00F6FAF9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95750"/>
            <a:ext cx="3467100" cy="1219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DE4D7"/>
          </a:solidFill>
          <a:ln xmlns:a="http://schemas.openxmlformats.org/drawingml/2006/main" w="0">
            <a:solidFill>
              <a:srgbClr val="EDE4D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796418-9AA0-4DB1-91E3-68FDF7C0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24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1717"/>
                </a:solidFill>
              </a:defRPr>
            </a:pPr>
            <a:r>
              <a:rPr sz="1950" b="1">
                <a:solidFill>
                  <a:srgbClr val="171717"/>
                </a:solidFill>
              </a:rPr>
              <a:t>提共享后处理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2E19A3-2AE3-4BC1-B6AB-E2D1D2EE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最后收敛出</a:t>
            </a:r>
          </a:p>
          <a:p xmlns:a="http://schemas.openxmlformats.org/drawingml/2006/main">
            <a:pPr algn="l">
              <a:defRPr sz="1200" b="0">
                <a:solidFill>
                  <a:srgbClr val="57534E"/>
                </a:solidFill>
              </a:defRPr>
            </a:pPr>
            <a:r>
              <a:rPr sz="1200" b="0">
                <a:solidFill>
                  <a:srgbClr val="57534E"/>
                </a:solidFill>
              </a:rPr>
              <a:t>sanitize_text / table_to_list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BB4CD9-0587-453A-88C6-28E9C245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524500"/>
            <a:ext cx="7162800" cy="49530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24211D"/>
          </a:solidFill>
          <a:ln xmlns:a="http://schemas.openxmlformats.org/drawingml/2006/main" w="0">
            <a:solidFill>
              <a:srgbClr val="24211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1D224BC-B5E8-40EC-A17B-7FEC4456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67690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代码里看分支 / repair / fallback / shared，设计 md 再把这些变化记成 iteration_log。</a:t>
            </a:r>
          </a:p>
        </p:txBody>
      </p:sp>
    </p:spTree>
    <p:extLst>
      <p:ext uri="{BB962C8B-B14F-4D97-AF65-F5344CB8AC3E}">
        <p14:creationId xmlns:p14="http://schemas.microsoft.com/office/powerpoint/2010/main" val="19881919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4B8B82-D647-4E90-8CC7-28904A6E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A1B"/>
          </a:solidFill>
          <a:ln xmlns:a="http://schemas.openxmlformats.org/drawingml/2006/main" w="0">
            <a:solidFill>
              <a:srgbClr val="C96A1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35883-8A33-40C1-B33F-502941A1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-1524000"/>
            <a:ext cx="3619500" cy="3619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79868-69DF-440D-98B0-8534062F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53000"/>
            <a:ext cx="2095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FD030-286C-4BF4-B51F-ABC566C3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7534E"/>
                </a:solidFill>
              </a:defRPr>
            </a:pPr>
            <a:r>
              <a:rPr sz="825" b="1">
                <a:solidFill>
                  <a:srgbClr val="57534E"/>
                </a:solidFill>
              </a:rPr>
              <a:t>手艺人蒸馏器 xs / 3 min internal pre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6383D-DC1F-47DA-B7FC-54302EA5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860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7534E"/>
                </a:solidFill>
              </a:defRPr>
            </a:pPr>
            <a:r>
              <a:rPr sz="825" b="1">
                <a:solidFill>
                  <a:srgbClr val="57534E"/>
                </a:solidFill>
              </a:rPr>
              <a:t>4/4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994A2E-E507-4421-A3FF-1ADD7B66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1717"/>
                </a:solidFill>
              </a:defRPr>
            </a:pPr>
            <a:r>
              <a:rPr sz="2625" b="1">
                <a:solidFill>
                  <a:srgbClr val="171717"/>
                </a:solidFill>
              </a:rPr>
              <a:t>先怎么落地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9C0B3-B559-4E0F-A801-FC0F20F5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895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7534E"/>
                </a:solidFill>
              </a:defRPr>
            </a:pPr>
            <a:r>
              <a:rPr sz="1350" b="0">
                <a:solidFill>
                  <a:srgbClr val="57534E"/>
                </a:solidFill>
              </a:rPr>
              <a:t>前台先不做通用 app，先把蒸馏、推送、审查和回灌这条线跑通。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CE8B6-CA7E-4E15-8034-0FC082D3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4476750" cy="31432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CDB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E0269-41B2-4C7B-88FC-9B5AA52A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推进顺序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31F91-6005-4370-B59D-79C96633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47E26-D184-42CA-8B48-805EA7F3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9080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1717"/>
                </a:solidFill>
              </a:defRPr>
            </a:pPr>
            <a:r>
              <a:rPr sz="1425" b="0">
                <a:solidFill>
                  <a:srgbClr val="171717"/>
                </a:solidFill>
              </a:rPr>
              <a:t>先个人：先让自己少重写一类杂活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685C00-0FFA-4EC1-A2B2-10C85AE1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207E95-95ED-4BDB-B032-A4DAE57B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813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1717"/>
                </a:solidFill>
              </a:defRPr>
            </a:pPr>
            <a:r>
              <a:rPr sz="1425" b="0">
                <a:solidFill>
                  <a:srgbClr val="171717"/>
                </a:solidFill>
              </a:rPr>
              <a:t>再团队：promoted 开始变成团队资产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A9326-D0CC-4DF7-A071-46AC7C294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AAB0B0-6217-4CA8-8F91-D4F87696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7190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1717"/>
                </a:solidFill>
              </a:defRPr>
            </a:pPr>
            <a:r>
              <a:rPr sz="1425" b="0">
                <a:solidFill>
                  <a:srgbClr val="171717"/>
                </a:solidFill>
              </a:rPr>
              <a:t>再项目组：相同目的合并，不同环境保留分支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BD6AE-A06C-44F8-8840-0EFF96BB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790700"/>
            <a:ext cx="2476500" cy="3143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322E44-5814-46F2-915B-3D782ECD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0383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最小技术栈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3F7EC1-53F1-42BB-B7EC-42A199BC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6098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CE469F-0505-4C05-85F4-9763219D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09850"/>
            <a:ext cx="1504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1717"/>
                </a:solidFill>
              </a:defRPr>
            </a:pPr>
            <a:r>
              <a:rPr sz="1350" b="0">
                <a:solidFill>
                  <a:srgbClr val="171717"/>
                </a:solidFill>
              </a:rPr>
              <a:t>Capture Hook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C2B22E-A5CB-472A-9044-6C0C1E9A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861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0AED1A-1150-44A2-9A05-1137971B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86100"/>
            <a:ext cx="1504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1717"/>
                </a:solidFill>
              </a:defRPr>
            </a:pPr>
            <a:r>
              <a:rPr sz="1350" b="0">
                <a:solidFill>
                  <a:srgbClr val="171717"/>
                </a:solidFill>
              </a:rPr>
              <a:t>Distiller Daemon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AACD11-446A-4997-8031-A2C62B79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623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6BC068-BE3A-401C-80EF-B6F905CD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1504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1717"/>
                </a:solidFill>
              </a:defRPr>
            </a:pPr>
            <a:r>
              <a:rPr sz="1350" b="0">
                <a:solidFill>
                  <a:srgbClr val="171717"/>
                </a:solidFill>
              </a:rPr>
              <a:t>MCP Sidecar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E8D522-B062-4BD9-B7F9-7D16C00E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0386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97FBB3-C655-4E99-83A5-5D77C025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38600"/>
            <a:ext cx="1504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1717"/>
                </a:solidFill>
              </a:defRPr>
            </a:pPr>
            <a:r>
              <a:rPr sz="1350" b="0">
                <a:solidFill>
                  <a:srgbClr val="171717"/>
                </a:solidFill>
              </a:rPr>
              <a:t>唯一像前台的可能是 review queue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41CD9A-00F6-4181-949B-BF485C46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90700"/>
            <a:ext cx="2800350" cy="31432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2DDC9"/>
          </a:solidFill>
          <a:ln xmlns:a="http://schemas.openxmlformats.org/drawingml/2006/main" w="0">
            <a:solidFill>
              <a:srgbClr val="F2DDC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9AB2FF-E275-4B5D-BF02-217DAD1D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383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717"/>
                </a:solidFill>
              </a:defRPr>
            </a:pPr>
            <a:r>
              <a:rPr sz="2100" b="1">
                <a:solidFill>
                  <a:srgbClr val="171717"/>
                </a:solidFill>
              </a:rPr>
              <a:t>预期效果</a:t>
            </a:r>
          </a:p>
        </p:txBody>
      </p:sp>
      <p:graphicFrame>
        <p:nvGraphicFramePr>
          <p:cNvPr id="57" name="Chart"/>
          <p:cNvGraphicFramePr/>
          <p:nvPr/>
        </p:nvGraphicFramePr>
        <p:xfrm>
          <a:off xmlns:a="http://schemas.openxmlformats.org/drawingml/2006/main" x="8610600" y="2571750"/>
          <a:ext xmlns:a="http://schemas.openxmlformats.org/drawingml/2006/main" cx="1809750" cy="1428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dd00f591404c75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7D04B2-0834-46C6-A5A6-83468329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29100"/>
            <a:ext cx="198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1717"/>
                </a:solidFill>
              </a:defRPr>
            </a:pPr>
            <a:r>
              <a:rPr sz="1200" b="0">
                <a:solidFill>
                  <a:srgbClr val="171717"/>
                </a:solidFill>
              </a:rPr>
              <a:t>内部预演口径，不是假装已经跑完真实 benchmark。</a:t>
            </a:r>
          </a:p>
        </p:txBody>
      </p:sp>
    </p:spTree>
    <p:extLst>
      <p:ext uri="{BB962C8B-B14F-4D97-AF65-F5344CB8AC3E}">
        <p14:creationId xmlns:p14="http://schemas.microsoft.com/office/powerpoint/2010/main" val="3921883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2026-06-20T10:13:42.0640000Z</dcterms:created>
  <dcterms:modified xsi:type="dcterms:W3CDTF">2026-06-20T10:13:42.0650000Z</dcterms:modified>
</coreProperties>
</file>