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0ae1128e064bbb" /><Relationship Type="http://schemas.openxmlformats.org/officeDocument/2006/relationships/extended-properties" Target="/docProps/app.xml" Id="R811753f1f6204a17" /><Relationship Type="http://schemas.openxmlformats.org/officeDocument/2006/relationships/officeDocument" Target="/ppt/presentation.xml" Id="Re21370e8774a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02fbd3fb604f86"/>
  </p:sldMasterIdLst>
  <p:notesMasterIdLst>
    <p:notesMasterId xmlns:r="http://schemas.openxmlformats.org/officeDocument/2006/relationships" r:id="Rd04e0157414d46c1"/>
  </p:notesMasterIdLst>
  <p:sldIdLst>
    <p:sldId xmlns:r="http://schemas.openxmlformats.org/officeDocument/2006/relationships" id="256" r:id="R71fc4dae294044b7"/>
    <p:sldId xmlns:r="http://schemas.openxmlformats.org/officeDocument/2006/relationships" id="257" r:id="R8ba178bcfba14f34"/>
    <p:sldId xmlns:r="http://schemas.openxmlformats.org/officeDocument/2006/relationships" id="258" r:id="Rc5d8431913cc45bc"/>
    <p:sldId xmlns:r="http://schemas.openxmlformats.org/officeDocument/2006/relationships" id="259" r:id="Re9506a56dd044f91"/>
    <p:sldId xmlns:r="http://schemas.openxmlformats.org/officeDocument/2006/relationships" id="260" r:id="R477d7f2cbb3644da"/>
    <p:sldId xmlns:r="http://schemas.openxmlformats.org/officeDocument/2006/relationships" id="261" r:id="R241c2651cc6f4236"/>
    <p:sldId xmlns:r="http://schemas.openxmlformats.org/officeDocument/2006/relationships" id="262" r:id="R1ed96bd876024f56"/>
    <p:sldId xmlns:r="http://schemas.openxmlformats.org/officeDocument/2006/relationships" id="263" r:id="R892cf72641034f85"/>
    <p:sldId xmlns:r="http://schemas.openxmlformats.org/officeDocument/2006/relationships" id="264" r:id="Raaec230caa59497d"/>
    <p:sldId xmlns:r="http://schemas.openxmlformats.org/officeDocument/2006/relationships" id="265" r:id="R0b86751743044d54"/>
    <p:sldId xmlns:r="http://schemas.openxmlformats.org/officeDocument/2006/relationships" id="266" r:id="R6584ccf1d1464623"/>
    <p:sldId xmlns:r="http://schemas.openxmlformats.org/officeDocument/2006/relationships" id="267" r:id="R072069041f024b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80dfb569a24c20" /><Relationship Type="http://schemas.openxmlformats.org/officeDocument/2006/relationships/slideMaster" Target="/ppt/slideMasters/slideMaster1.xml" Id="R0802fbd3fb604f86" /><Relationship Type="http://schemas.openxmlformats.org/officeDocument/2006/relationships/notesMaster" Target="/ppt/notesMasters/notesMaster1.xml" Id="Rd04e0157414d46c1" /><Relationship Type="http://schemas.openxmlformats.org/officeDocument/2006/relationships/presProps" Target="/ppt/presProps.xml" Id="Rb9d0efaf6a08446f" /><Relationship Type="http://schemas.openxmlformats.org/officeDocument/2006/relationships/tableStyles" Target="/ppt/tableStyles.xml" Id="R692c64fb4c8a492f" /><Relationship Type="http://schemas.openxmlformats.org/officeDocument/2006/relationships/slide" Target="/ppt/slides/slide1.xml" Id="R71fc4dae294044b7" /><Relationship Type="http://schemas.openxmlformats.org/officeDocument/2006/relationships/slide" Target="/ppt/slides/slide2.xml" Id="R8ba178bcfba14f34" /><Relationship Type="http://schemas.openxmlformats.org/officeDocument/2006/relationships/slide" Target="/ppt/slides/slide3.xml" Id="Rc5d8431913cc45bc" /><Relationship Type="http://schemas.openxmlformats.org/officeDocument/2006/relationships/slide" Target="/ppt/slides/slide4.xml" Id="Re9506a56dd044f91" /><Relationship Type="http://schemas.openxmlformats.org/officeDocument/2006/relationships/slide" Target="/ppt/slides/slide5.xml" Id="R477d7f2cbb3644da" /><Relationship Type="http://schemas.openxmlformats.org/officeDocument/2006/relationships/slide" Target="/ppt/slides/slide6.xml" Id="R241c2651cc6f4236" /><Relationship Type="http://schemas.openxmlformats.org/officeDocument/2006/relationships/slide" Target="/ppt/slides/slide7.xml" Id="R1ed96bd876024f56" /><Relationship Type="http://schemas.openxmlformats.org/officeDocument/2006/relationships/slide" Target="/ppt/slides/slide8.xml" Id="R892cf72641034f85" /><Relationship Type="http://schemas.openxmlformats.org/officeDocument/2006/relationships/slide" Target="/ppt/slides/slide9.xml" Id="Raaec230caa59497d" /><Relationship Type="http://schemas.openxmlformats.org/officeDocument/2006/relationships/slide" Target="/ppt/slides/slide10.xml" Id="R0b86751743044d54" /><Relationship Type="http://schemas.openxmlformats.org/officeDocument/2006/relationships/slide" Target="/ppt/slides/slide11.xml" Id="R6584ccf1d1464623" /><Relationship Type="http://schemas.openxmlformats.org/officeDocument/2006/relationships/slide" Target="/ppt/slides/slide12.xml" Id="R072069041f02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c0f19ad66749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f90c020a64c20" /><Relationship Type="http://schemas.openxmlformats.org/officeDocument/2006/relationships/notesMaster" Target="/ppt/notesMasters/notesMaster1.xml" Id="Rdb1ce52248844c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1e530f0bfc4572" /><Relationship Type="http://schemas.openxmlformats.org/officeDocument/2006/relationships/notesMaster" Target="/ppt/notesMasters/notesMaster1.xml" Id="R023500d16a0b4b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bbbff841544db2" /><Relationship Type="http://schemas.openxmlformats.org/officeDocument/2006/relationships/notesMaster" Target="/ppt/notesMasters/notesMaster1.xml" Id="R7dcd6f2d73854e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ffdcefea96406d" /><Relationship Type="http://schemas.openxmlformats.org/officeDocument/2006/relationships/notesMaster" Target="/ppt/notesMasters/notesMaster1.xml" Id="R77ef527b4aac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122b73e1bf4352" /><Relationship Type="http://schemas.openxmlformats.org/officeDocument/2006/relationships/notesMaster" Target="/ppt/notesMasters/notesMaster1.xml" Id="R7fe4a04393b140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9e4fc8da284a72" /><Relationship Type="http://schemas.openxmlformats.org/officeDocument/2006/relationships/notesMaster" Target="/ppt/notesMasters/notesMaster1.xml" Id="R178d1127a92b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01138fe5624fb2" /><Relationship Type="http://schemas.openxmlformats.org/officeDocument/2006/relationships/notesMaster" Target="/ppt/notesMasters/notesMaster1.xml" Id="Rdfeb844c294f45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2bc57e61c7447d" /><Relationship Type="http://schemas.openxmlformats.org/officeDocument/2006/relationships/notesMaster" Target="/ppt/notesMasters/notesMaster1.xml" Id="R805f7fa0c51b4e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7e181ec8c64adb" /><Relationship Type="http://schemas.openxmlformats.org/officeDocument/2006/relationships/notesMaster" Target="/ppt/notesMasters/notesMaster1.xml" Id="R08e4c7192c814f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7b932e7f3046d0" /><Relationship Type="http://schemas.openxmlformats.org/officeDocument/2006/relationships/notesMaster" Target="/ppt/notesMasters/notesMaster1.xml" Id="R0e3bd6f9524a4f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25ebdf1b454ff1" /><Relationship Type="http://schemas.openxmlformats.org/officeDocument/2006/relationships/notesMaster" Target="/ppt/notesMasters/notesMaster1.xml" Id="Rff154808b0624a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7927913a9a445f" /><Relationship Type="http://schemas.openxmlformats.org/officeDocument/2006/relationships/notesMaster" Target="/ppt/notesMasters/notesMaster1.xml" Id="R39811bccc2de42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f302bb83040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12dc328e054163" /><Relationship Type="http://schemas.openxmlformats.org/officeDocument/2006/relationships/slideLayout" Target="/ppt/slideLayouts/slideLayout1.xml" Id="Rfeb04b542d5b4d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b04b542d5b4d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974c5912a4d81" /><Relationship Type="http://schemas.openxmlformats.org/officeDocument/2006/relationships/notesSlide" Target="/ppt/notesSlides/notesSlide1.xml" Id="R5c9c494e326646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fb19830d64c09" /><Relationship Type="http://schemas.openxmlformats.org/officeDocument/2006/relationships/notesSlide" Target="/ppt/notesSlides/notesSlide2.xml" Id="Rda7f8dd2247643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cf3de596749cd" /><Relationship Type="http://schemas.openxmlformats.org/officeDocument/2006/relationships/notesSlide" Target="/ppt/notesSlides/notesSlide3.xml" Id="R48638ee7a9924d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bc7b7a54e4c54" /><Relationship Type="http://schemas.openxmlformats.org/officeDocument/2006/relationships/notesSlide" Target="/ppt/notesSlides/notesSlide4.xml" Id="Rb3f752ae1ec5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37decf0b14f02" /><Relationship Type="http://schemas.openxmlformats.org/officeDocument/2006/relationships/notesSlide" Target="/ppt/notesSlides/notesSlide5.xml" Id="R49f3e7c352634f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cebcc7464424a" /><Relationship Type="http://schemas.openxmlformats.org/officeDocument/2006/relationships/notesSlide" Target="/ppt/notesSlides/notesSlide6.xml" Id="Ra8fc55c569af4d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dcddd45da497b" /><Relationship Type="http://schemas.openxmlformats.org/officeDocument/2006/relationships/notesSlide" Target="/ppt/notesSlides/notesSlide7.xml" Id="Rea15b1f7d89d4e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04ef250ff4449" /><Relationship Type="http://schemas.openxmlformats.org/officeDocument/2006/relationships/notesSlide" Target="/ppt/notesSlides/notesSlide8.xml" Id="Rad7fea7251a14d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6202c2eb84127" /><Relationship Type="http://schemas.openxmlformats.org/officeDocument/2006/relationships/notesSlide" Target="/ppt/notesSlides/notesSlide9.xml" Id="Rfa513272019e46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4c38bc42a4445" /><Relationship Type="http://schemas.openxmlformats.org/officeDocument/2006/relationships/chart" Target="/ppt/slides/charts/chart1.xml" Id="Rfbe653222fad4c4f" /><Relationship Type="http://schemas.openxmlformats.org/officeDocument/2006/relationships/notesSlide" Target="/ppt/notesSlides/notesSlide10.xml" Id="Rbb07970505714d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89026ea7b4b8a" /><Relationship Type="http://schemas.openxmlformats.org/officeDocument/2006/relationships/notesSlide" Target="/ppt/notesSlides/notesSlide11.xml" Id="Rae6d7511be9443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7c3cb921c457d" /><Relationship Type="http://schemas.openxmlformats.org/officeDocument/2006/relationships/notesSlide" Target="/ppt/notesSlides/notesSlide12.xml" Id="R0d43294dc2cd4b3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每人每周少重写小时数</c:v>
          </c:tx>
          <c:spPr>
            <a:solidFill xmlns:a="http://schemas.openxmlformats.org/drawingml/2006/main">
              <a:srgbClr val="C96A1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无蒸馏</c:v>
              </c:pt>
              <c:pt idx="1">
                <c:v>个人模式</c:v>
              </c:pt>
              <c:pt idx="2">
                <c:v>团队模式</c:v>
              </c:pt>
            </c:strLit>
          </c:cat>
          <c:val>
            <c:numLit>
              <c:formatCode>General</c:formatCode>
              <c:ptCount val="3"/>
              <c:pt idx="0">
                <c:v>0.4</c:v>
              </c:pt>
              <c:pt idx="1">
                <c:v>2.3</c:v>
              </c:pt>
              <c:pt idx="2">
                <c:v>5.1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CCB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4F122D-E336-45F4-BF0D-3247B49E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6E8EE-7B03-4419-9633-28E9614E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0C1EF-75B0-4B93-B5E1-C2F0CE1D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C74F6-3908-407B-A5FB-2DABD32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7EEFD-9E14-46E0-BDB1-7C245A80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870AD-1208-4A49-8634-A209358F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C92DB-3D91-4906-ABFF-7AE78C47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297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A1B"/>
                </a:solidFill>
              </a:defRPr>
            </a:pPr>
            <a:r>
              <a:rPr sz="900" b="1" i="0">
                <a:solidFill>
                  <a:srgbClr val="C96A1B"/>
                </a:solidFill>
              </a:rPr>
              <a:t>内部预演 / 社畜精细化蒸馏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9AA09-7E5E-4D53-B4EA-7DA00F57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85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8181B"/>
                </a:solidFill>
              </a:defRPr>
            </a:pPr>
            <a:r>
              <a:rPr sz="4350" b="1" i="0">
                <a:solidFill>
                  <a:srgbClr val="18181B"/>
                </a:solidFill>
              </a:rPr>
              <a:t>手艺人蒸馏器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8CB8E-F26F-4D0E-AFEC-F686D017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7534E"/>
                </a:solidFill>
              </a:defRPr>
            </a:pPr>
            <a:r>
              <a:rPr sz="1950" b="0" i="0">
                <a:solidFill>
                  <a:srgbClr val="57534E"/>
                </a:solidFill>
              </a:rPr>
              <a:t>把社畜拿命试出来的零散做法，精细蒸馏成下次不用重写的工具、熟路和团队资产。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A2655-FB89-41BA-88BA-831882DF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这版 PPT 不是对外融资 deck，而是内部预演：先把一个目的跑通，再决定是否放大到团队与项目组。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A92C-7EEA-4484-A87E-F069D08E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524250" cy="40195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23211E"/>
          </a:solidFill>
          <a:ln xmlns:a="http://schemas.openxmlformats.org/drawingml/2006/main" w="0">
            <a:solidFill>
              <a:srgbClr val="2321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23237-9D37-4B89-AD7B-E5554B05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E5E4"/>
                </a:solidFill>
              </a:defRPr>
            </a:pPr>
            <a:r>
              <a:rPr sz="1200" b="1" i="0">
                <a:solidFill>
                  <a:srgbClr val="E7E5E4"/>
                </a:solidFill>
              </a:rPr>
              <a:t>今天这一版讲三件事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9E3FE-9B51-41BB-BD5C-16CAC9E3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479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1. 为什么不是知识库，而是会自己长的手艺库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BD7D7-AC7D-4BF0-9D3F-AD2F4FC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2. 为什么 `doc2md`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逼着我们改掉原来的拆分思路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FE94E-E046-416F-87C0-F8584360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3. 为什么终局不是个人外挂，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而是整个项目组的熟路网</a:t>
            </a:r>
          </a:p>
        </p:txBody>
      </p:sp>
    </p:spTree>
    <p:extLst>
      <p:ext uri="{BB962C8B-B14F-4D97-AF65-F5344CB8AC3E}">
        <p14:creationId xmlns:p14="http://schemas.microsoft.com/office/powerpoint/2010/main" val="1349704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ECF0E-DE6E-4C7F-92FE-C5739F5B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A6CB0-64B8-4070-83F8-CB5326F4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C67F7-D45C-4715-9943-CB6AE82E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B3AE1-E606-4AC8-8214-FA198E2F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AAC40-1B16-4165-AC94-2B527155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24035-C6C0-4EEC-B8F3-97723A55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问题不是没人会做，而是团队记不住自己会做什么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51921-BE3F-4099-847E-39329558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重复重写、隐性 know-how 和交接损耗，正在把熟路重新打回生路。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AA2DC-4046-4F09-93C3-1F36DD92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181B"/>
                </a:solidFill>
              </a:defRPr>
            </a:pPr>
            <a:r>
              <a:rPr sz="2100" b="1" i="0">
                <a:solidFill>
                  <a:srgbClr val="18181B"/>
                </a:solidFill>
              </a:rPr>
              <a:t>我们最常见的浪费，不是“没人写过”，而是“写过，但只活在某次对话、某个临时脚本、某个老师傅脑子里”。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EA715-0402-4DB6-82F2-CB6255F0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7534E"/>
                </a:solidFill>
              </a:defRPr>
            </a:pPr>
            <a:r>
              <a:rPr sz="1500" b="0" i="0">
                <a:solidFill>
                  <a:srgbClr val="57534E"/>
                </a:solidFill>
              </a:rPr>
              <a:t>结果就是：同一类文档转换、表格修补、路径整理、失败回退，agent 和人都会一遍遍重来。越是杂活，越难沉淀；越难沉淀，越容易永远重复。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ADEF9-4C12-483C-A4CD-0100E4F1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38300"/>
            <a:ext cx="495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8FB59-F947-4E70-A690-49D6C3EB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6A1B"/>
                </a:solidFill>
              </a:defRPr>
            </a:pPr>
            <a:r>
              <a:rPr sz="1950" b="1" i="0">
                <a:solidFill>
                  <a:srgbClr val="C96A1B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7B2D2-AE96-4AEE-BCEF-DE8D0300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716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B"/>
                </a:solidFill>
              </a:defRPr>
            </a:pPr>
            <a:r>
              <a:rPr sz="1500" b="1" i="0">
                <a:solidFill>
                  <a:srgbClr val="18181B"/>
                </a:solidFill>
              </a:rPr>
              <a:t>临时脚本满天飞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48AE5-1F84-4457-9A5D-8FF7D6E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57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能跑一次，不等于下次找得到、看得懂、敢复用。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1E852-B98C-4872-8CE0-E6C4724E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495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B85D1-7257-45F4-A23A-71006E02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6A1B"/>
                </a:solidFill>
              </a:defRPr>
            </a:pPr>
            <a:r>
              <a:rPr sz="1950" b="1" i="0">
                <a:solidFill>
                  <a:srgbClr val="C96A1B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075B8-5195-4264-8B22-723417C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B"/>
                </a:solidFill>
              </a:defRPr>
            </a:pPr>
            <a:r>
              <a:rPr sz="1500" b="1" i="0">
                <a:solidFill>
                  <a:srgbClr val="18181B"/>
                </a:solidFill>
              </a:rPr>
              <a:t>交接只交结果，不交手法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0A2B7-866A-4E05-8499-B8A0AC81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新人接到的是文件，不是为什么这么做、坏了怎么回退。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646A7-A5D5-44C1-8215-B29E0DB8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495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51974-9A6F-4E04-A20C-BF050FB2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6A1B"/>
                </a:solidFill>
              </a:defRPr>
            </a:pPr>
            <a:r>
              <a:rPr sz="1950" b="1" i="0">
                <a:solidFill>
                  <a:srgbClr val="C96A1B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DEEA8-AA4B-47E1-A0D7-401A425A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B"/>
                </a:solidFill>
              </a:defRPr>
            </a:pPr>
            <a:r>
              <a:rPr sz="1500" b="1" i="0">
                <a:solidFill>
                  <a:srgbClr val="18181B"/>
                </a:solidFill>
              </a:rPr>
              <a:t>agent 每次都从零开始假装聪明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70951-8E98-420A-B70A-427EE4B1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没有 reuse-before-create，就只能继续重搓。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27F27-6D8E-4F9D-9B5F-576D26EB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495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E8E0"/>
          </a:solidFill>
          <a:ln xmlns:a="http://schemas.openxmlformats.org/drawingml/2006/main" w="0">
            <a:solidFill>
              <a:srgbClr val="F2E8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29193-E4EB-4A71-875D-C1E20736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6A1B"/>
                </a:solidFill>
              </a:defRPr>
            </a:pPr>
            <a:r>
              <a:rPr sz="1950" b="1" i="0">
                <a:solidFill>
                  <a:srgbClr val="C96A1B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9A179-96BD-46FE-98C3-26844CC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00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B"/>
                </a:solidFill>
              </a:defRPr>
            </a:pPr>
            <a:r>
              <a:rPr sz="1500" b="1" i="0">
                <a:solidFill>
                  <a:srgbClr val="18181B"/>
                </a:solidFill>
              </a:rPr>
              <a:t>团队层真正损失的是熟路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4CF61-46B9-4F4E-8B3C-B4B78D5A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86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最贵的不是脚本本身，而是踩坑踩出来的判断和伤疤。</a:t>
            </a:r>
          </a:p>
        </p:txBody>
      </p:sp>
    </p:spTree>
    <p:extLst>
      <p:ext uri="{BB962C8B-B14F-4D97-AF65-F5344CB8AC3E}">
        <p14:creationId xmlns:p14="http://schemas.microsoft.com/office/powerpoint/2010/main" val="1716959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E598C-366D-4CF9-8E89-5FD57C63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0B9ED-04DF-47A8-A961-B0820FCF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756DE-F763-44E7-8BDB-37DCBF23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6E1CD-F1F6-4975-90EC-14314ED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C456C-A069-41E6-A609-D2AD1124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C3D9E-C4EF-4906-A27F-5B05389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它是什么，不是什么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C5F3A-6EA8-49A5-843E-A2CA1A6E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先把边界说清楚，后面所有实现选择才不会跑偏。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1CDFA-E0E3-4C60-A755-DBD3D152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3676650"/>
          </a:xfrm>
          <a:prstGeom xmlns:a="http://schemas.openxmlformats.org/drawingml/2006/main" prst="roundRect">
            <a:avLst>
              <a:gd name="adj" fmla="val 62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2ACE6-18C8-44F7-B6C4-F7B7658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628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876D9-EEFB-47B1-9744-FBE7BD93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97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</a:defRPr>
            </a:pPr>
            <a:r>
              <a:rPr sz="900" b="1" i="0">
                <a:solidFill>
                  <a:srgbClr val="0F766E"/>
                </a:solidFill>
              </a:rPr>
              <a:t>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C2842-8674-4CD5-8836-3F047181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181B"/>
                </a:solidFill>
              </a:defRPr>
            </a:pPr>
            <a:r>
              <a:rPr sz="1800" b="1" i="0">
                <a:solidFill>
                  <a:srgbClr val="18181B"/>
                </a:solidFill>
              </a:rPr>
              <a:t>从真实工作轨迹中，提取反复出现且可验证的程序类能力，让它们沿“目的 / 契约 / 分支 / 年轮”慢慢长成成熟工具。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F1721-E6A2-4D97-93B3-55FD81F0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7534E"/>
                </a:solidFill>
              </a:defRPr>
            </a:pPr>
            <a:r>
              <a:rPr sz="1350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E2CE0-921E-4A2A-956D-11B7097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先观察真实干活，再决定值不值得入库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BD421-B73E-4DEC-B656-894F0BE4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7534E"/>
                </a:solidFill>
              </a:defRPr>
            </a:pPr>
            <a:r>
              <a:rPr sz="1350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07FD5-531C-4F0E-BD34-04F4C1A3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默认保留伤疤，不把复杂经验洗成 canonical 小样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FBF5C-1B5F-4B49-B352-92301CA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7534E"/>
                </a:solidFill>
              </a:defRPr>
            </a:pPr>
            <a:r>
              <a:rPr sz="1350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1237D-E167-4E70-9498-125BD12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价值靠持续复用确认，不靠和 baseline 做 diff 比输赢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3FB19-3B22-47FE-85F2-7DBCC75E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5448300" cy="3676650"/>
          </a:xfrm>
          <a:prstGeom xmlns:a="http://schemas.openxmlformats.org/drawingml/2006/main" prst="roundRect">
            <a:avLst>
              <a:gd name="adj" fmla="val 6218"/>
            </a:avLst>
          </a:prstGeom>
          <a:solidFill xmlns:a="http://schemas.openxmlformats.org/drawingml/2006/main">
            <a:srgbClr val="23211E"/>
          </a:solidFill>
          <a:ln xmlns:a="http://schemas.openxmlformats.org/drawingml/2006/main" w="0">
            <a:solidFill>
              <a:srgbClr val="2321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406E2-6A5D-42A5-AA9E-2045D398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3026"/>
          </a:solidFill>
          <a:ln xmlns:a="http://schemas.openxmlformats.org/drawingml/2006/main" w="0">
            <a:solidFill>
              <a:srgbClr val="3B30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39FE2-8696-42B2-8186-BACF8A5D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97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D6B8"/>
                </a:solidFill>
              </a:defRPr>
            </a:pPr>
            <a:r>
              <a:rPr sz="900" b="1" i="0">
                <a:solidFill>
                  <a:srgbClr val="F4D6B8"/>
                </a:solidFill>
              </a:rPr>
              <a:t>不是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5510F-453D-460E-B4CC-55264B91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445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不是一个更大的知识库，也不是一个更烦人的审核系统。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15073-ABEB-4BEB-8C5F-7574904F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7E5E4"/>
                </a:solidFill>
              </a:defRPr>
            </a:pPr>
            <a:r>
              <a:rPr sz="1350" b="1" i="0">
                <a:solidFill>
                  <a:srgbClr val="E7E5E4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A21EA-0475-4139-9487-6F8F541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7E5E4"/>
                </a:solidFill>
              </a:defRPr>
            </a:pPr>
            <a:r>
              <a:rPr sz="1350" b="0" i="0">
                <a:solidFill>
                  <a:srgbClr val="E7E5E4"/>
                </a:solidFill>
              </a:rPr>
              <a:t>不是监控员工：看的是工具痕迹与 I/O，不是绩效画像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628F1-68DF-46CA-9C30-581B774E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7E5E4"/>
                </a:solidFill>
              </a:defRPr>
            </a:pPr>
            <a:r>
              <a:rPr sz="1350" b="1" i="0">
                <a:solidFill>
                  <a:srgbClr val="E7E5E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84049-3239-405D-8056-811EDA66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7E5E4"/>
                </a:solidFill>
              </a:defRPr>
            </a:pPr>
            <a:r>
              <a:rPr sz="1350" b="0" i="0">
                <a:solidFill>
                  <a:srgbClr val="E7E5E4"/>
                </a:solidFill>
              </a:rPr>
              <a:t>不是 prompt 仓库：提示词沉淀在 MVP 明确 deferred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A22CC-BDFB-40FF-8CB6-39AECE6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7E5E4"/>
                </a:solidFill>
              </a:defRPr>
            </a:pPr>
            <a:r>
              <a:rPr sz="1350" b="1" i="0">
                <a:solidFill>
                  <a:srgbClr val="E7E5E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7255C-5DDF-4C6D-9277-74A9E50E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7E5E4"/>
                </a:solidFill>
              </a:defRPr>
            </a:pPr>
            <a:r>
              <a:rPr sz="1350" b="0" i="0">
                <a:solidFill>
                  <a:srgbClr val="E7E5E4"/>
                </a:solidFill>
              </a:rPr>
              <a:t>不是把所有好东西立刻公开：promoted 不等于 exposed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43A04-05FF-4F58-BA24-78016397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7E5E4"/>
                </a:solidFill>
              </a:defRPr>
            </a:pPr>
            <a:r>
              <a:rPr sz="1350" b="1" i="0">
                <a:solidFill>
                  <a:srgbClr val="E7E5E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6E54BA-DF86-434F-8B93-6009F3A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7E5E4"/>
                </a:solidFill>
              </a:defRPr>
            </a:pPr>
            <a:r>
              <a:rPr sz="1350" b="0" i="0">
                <a:solidFill>
                  <a:srgbClr val="E7E5E4"/>
                </a:solidFill>
              </a:rPr>
              <a:t>不是强迫人配合：采集无感，审查 pull，不靠弹窗催办</a:t>
            </a:r>
          </a:p>
        </p:txBody>
      </p:sp>
    </p:spTree>
    <p:extLst>
      <p:ext uri="{BB962C8B-B14F-4D97-AF65-F5344CB8AC3E}">
        <p14:creationId xmlns:p14="http://schemas.microsoft.com/office/powerpoint/2010/main" val="1279973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19495-BE95-4A26-9CB4-F7196C8D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4B4E1-C8ED-4A37-A5E2-DEC9B07B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207D2-D16D-4ADC-ABA4-70EBB901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B1310-153B-45B2-AD56-F84A2E05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9D6F6-BEE6-4B5E-A0F1-7578C50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AB6C3-346E-4894-AE80-9B40A9B0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`doc2md` 不是例子，它是设计的尺子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61897-9B5B-4A32-B520-D2B3C24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真正把架构掰正的，不是抽象原则，而是一个已经长出年轮的真实工具。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CC0A4-1B8D-4709-B1D5-2C8DC5B9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334000" cy="3771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503CD-FF8F-4348-9565-88E62ED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52750"/>
            <a:ext cx="1981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28C4B-2B85-4426-A809-228621CB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43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doc2md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6A843-3E9F-4460-A95C-DC641111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A0B6D-F9A1-4A66-A801-C8BB486E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pdf</a:t>
            </a:r>
          </a:p>
          <a:p xmlns:a="http://schemas.openxmlformats.org/drawingml/2006/main">
            <a:pPr algn="ctr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text / scanned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2AB84-F6A7-426C-B2B1-A60541E6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4A690-AD8C-48B8-9D0B-5B122891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288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docx</a:t>
            </a:r>
          </a:p>
          <a:p xmlns:a="http://schemas.openxmlformats.org/drawingml/2006/main">
            <a:pPr algn="ctr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repair scars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7B02F-FD17-44DF-BBC9-C6EAAAA3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E7F9"/>
          </a:solidFill>
          <a:ln xmlns:a="http://schemas.openxmlformats.org/drawingml/2006/main" w="0">
            <a:solidFill>
              <a:srgbClr val="ECE7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958F8-1B11-4A66-BDA3-5741A34C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xlsx / pptx</a:t>
            </a:r>
          </a:p>
          <a:p xmlns:a="http://schemas.openxmlformats.org/drawingml/2006/main">
            <a:pPr algn="ctr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structure-first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A4019-E73D-4590-B4B2-664371C2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AE2"/>
          </a:solidFill>
          <a:ln xmlns:a="http://schemas.openxmlformats.org/drawingml/2006/main" w="0">
            <a:solidFill>
              <a:srgbClr val="EFEA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E425D-B866-4650-A2EA-CD1496A8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291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generic</a:t>
            </a:r>
          </a:p>
          <a:p xmlns:a="http://schemas.openxmlformats.org/drawingml/2006/main">
            <a:pPr algn="ctr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markitdown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6641F-C910-4D26-B8B1-1E36501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36576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211E"/>
          </a:solidFill>
          <a:ln xmlns:a="http://schemas.openxmlformats.org/drawingml/2006/main" w="0">
            <a:solidFill>
              <a:srgbClr val="23211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1F46A-98F5-4AD8-97EB-362ED3FB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015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F5F4"/>
                </a:solidFill>
              </a:defRPr>
            </a:pPr>
            <a:r>
              <a:rPr sz="975" b="1" i="0">
                <a:solidFill>
                  <a:srgbClr val="F5F5F4"/>
                </a:solidFill>
              </a:rPr>
              <a:t>shared post-processing / artifacts / fallback / scars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A5F61-7E24-4232-81B6-4AE9CD34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181B"/>
                </a:solidFill>
              </a:defRPr>
            </a:pPr>
            <a:r>
              <a:rPr sz="2250" b="1" i="0">
                <a:solidFill>
                  <a:srgbClr val="18181B"/>
                </a:solidFill>
              </a:rPr>
              <a:t>它逼着我们承认三件事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00ED6-519D-4E02-9E46-675BFCB3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7534E"/>
                </a:solidFill>
              </a:defRPr>
            </a:pPr>
            <a:r>
              <a:rPr sz="1425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B56E0-611C-44D8-8B38-59DE4F88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34E"/>
                </a:solidFill>
              </a:defRPr>
            </a:pPr>
            <a:r>
              <a:rPr sz="1425" b="0" i="0">
                <a:solidFill>
                  <a:srgbClr val="57534E"/>
                </a:solidFill>
              </a:rPr>
              <a:t>最小单元不是最小函数，而是一个自洽目的。`任意文档 → markdown` 就是一个单元。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6CD50-2681-46FF-BCC4-F512CBB7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7534E"/>
                </a:solidFill>
              </a:defRPr>
            </a:pPr>
            <a:r>
              <a:rPr sz="1425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4B5A9-5CE4-44C6-9C18-DFD6067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34E"/>
                </a:solidFill>
              </a:defRPr>
            </a:pPr>
            <a:r>
              <a:rPr sz="1425" b="0" i="0">
                <a:solidFill>
                  <a:srgbClr val="57534E"/>
                </a:solidFill>
              </a:rPr>
              <a:t>合并主轴不是代码相似，而是契约 / 目的。分支不同，仍然可以属于同一能力。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72E7E-B615-4503-A501-BAC18B2B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7534E"/>
                </a:solidFill>
              </a:defRPr>
            </a:pPr>
            <a:r>
              <a:rPr sz="1425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91A1D-F440-4BF8-923F-C3208980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34E"/>
                </a:solidFill>
              </a:defRPr>
            </a:pPr>
            <a:r>
              <a:rPr sz="1425" b="0" i="0">
                <a:solidFill>
                  <a:srgbClr val="57534E"/>
                </a:solidFill>
              </a:rPr>
              <a:t>好工具不是干净到没伤疤，而是把格式扩展、失败修补和输出手艺都长进去了。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D486E-3884-40BC-8858-133DA79B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7534E"/>
                </a:solidFill>
              </a:defRPr>
            </a:pPr>
            <a:r>
              <a:rPr sz="1425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FF5EFB-D45C-4CEB-9070-FB079690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62450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7534E"/>
                </a:solidFill>
              </a:defRPr>
            </a:pPr>
            <a:r>
              <a:rPr sz="1425" b="0" i="0">
                <a:solidFill>
                  <a:srgbClr val="57534E"/>
                </a:solidFill>
              </a:rPr>
              <a:t>markitdown 是 baseline，不是 oracle。`doc2md` 的价值正是故意做得和 baseline 不一样。</a:t>
            </a:r>
          </a:p>
        </p:txBody>
      </p:sp>
    </p:spTree>
    <p:extLst>
      <p:ext uri="{BB962C8B-B14F-4D97-AF65-F5344CB8AC3E}">
        <p14:creationId xmlns:p14="http://schemas.microsoft.com/office/powerpoint/2010/main" val="1565259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44FCAF-3D2D-4464-A14E-DE5B586D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161B6-D693-4336-AAC7-45510311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A2632-1F2C-4D93-A276-4349175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21470-A7E3-4A9F-9E5B-EDD69E19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E17C2-49D5-489C-BDF2-BD34BC6C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7B997-8D64-40A6-8872-0087A51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核心闭环：不是收集代码，而是把碎片长成能力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CD39D-79C2-4F59-A393-8E76FA3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capture -&gt; replay -&gt; validate -&gt; classify -&gt; compose -&gt; warm-start，再被下一次工作验证。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4134B-3718-4CA4-84C3-CCB87DAC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381125" cy="198120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4F4DD-D0DF-4971-A078-D0A0916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6A1B"/>
                </a:solidFill>
              </a:defRPr>
            </a:pPr>
            <a:r>
              <a:rPr sz="1350" b="1" i="0">
                <a:solidFill>
                  <a:srgbClr val="C96A1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76617-53D7-4142-8D52-12E637BB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076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B"/>
                </a:solidFill>
              </a:defRPr>
            </a:pPr>
            <a:r>
              <a:rPr sz="1650" b="1" i="0">
                <a:solidFill>
                  <a:srgbClr val="18181B"/>
                </a:solidFill>
              </a:rPr>
              <a:t>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992CC-353E-49EE-8DBC-EA019549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076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hook 极轻，只落原始事件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99FCB-9ABE-449B-B3A5-0FCB50A3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7534E"/>
                </a:solidFill>
              </a:defRPr>
            </a:pPr>
            <a:r>
              <a:rPr sz="1650" b="1" i="0">
                <a:solidFill>
                  <a:srgbClr val="57534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7B9C4-5392-4C2D-A9D5-2A94DA1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24100"/>
            <a:ext cx="1381125" cy="198120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B1C4D-69A6-4DFB-9C12-48C86960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9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6A1B"/>
                </a:solidFill>
              </a:defRPr>
            </a:pPr>
            <a:r>
              <a:rPr sz="1350" b="1" i="0">
                <a:solidFill>
                  <a:srgbClr val="C96A1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D341A-E55B-4D55-9881-CE414B9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838450"/>
            <a:ext cx="1076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B"/>
                </a:solidFill>
              </a:defRPr>
            </a:pPr>
            <a:r>
              <a:rPr sz="1650" b="1" i="0">
                <a:solidFill>
                  <a:srgbClr val="18181B"/>
                </a:solidFill>
              </a:rPr>
              <a:t>Replay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349DB-3992-427C-A4A9-FCCC0C28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29000"/>
            <a:ext cx="1076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沙箱重放，验证能跑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E275C-9083-49CE-8457-8ACB9AA4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7534E"/>
                </a:solidFill>
              </a:defRPr>
            </a:pPr>
            <a:r>
              <a:rPr sz="1650" b="1" i="0">
                <a:solidFill>
                  <a:srgbClr val="57534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67AF7-4940-4D21-884B-F5B0791E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1381125" cy="198120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8F38B-CDC1-4F51-93A4-A05BFAD2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9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6A1B"/>
                </a:solidFill>
              </a:defRPr>
            </a:pPr>
            <a:r>
              <a:rPr sz="1350" b="1" i="0">
                <a:solidFill>
                  <a:srgbClr val="C96A1B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A7C80-138B-4757-BCAA-CBC320D2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38450"/>
            <a:ext cx="1076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B"/>
                </a:solidFill>
              </a:defRPr>
            </a:pPr>
            <a:r>
              <a:rPr sz="1650" b="1" i="0">
                <a:solidFill>
                  <a:srgbClr val="18181B"/>
                </a:solidFill>
              </a:rPr>
              <a:t>Output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FD5B8-838B-4FEE-BF57-EC46F238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1076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看属性，不拿 baseline 强行对齐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A736D-2D73-4C15-BF0F-C1A24C4C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7534E"/>
                </a:solidFill>
              </a:defRPr>
            </a:pPr>
            <a:r>
              <a:rPr sz="1650" b="1" i="0">
                <a:solidFill>
                  <a:srgbClr val="57534E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A8875-D43F-4F1B-9A5D-7E04333C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24100"/>
            <a:ext cx="1381125" cy="198120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42265-5BA5-4031-8863-C1B15F76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9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6A1B"/>
                </a:solidFill>
              </a:defRPr>
            </a:pPr>
            <a:r>
              <a:rPr sz="1350" b="1" i="0">
                <a:solidFill>
                  <a:srgbClr val="C96A1B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EB662-7633-4AD2-8BEC-33581FC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38450"/>
            <a:ext cx="1076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B"/>
                </a:solidFill>
              </a:defRPr>
            </a:pPr>
            <a:r>
              <a:rPr sz="1650" b="1" i="0">
                <a:solidFill>
                  <a:srgbClr val="18181B"/>
                </a:solidFill>
              </a:rPr>
              <a:t>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ACCDF-FBA6-4BF8-926C-F928134D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29000"/>
            <a:ext cx="1076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抽 I/O、目的、branch、behavior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20AA43-0A37-4C6F-B9EA-6389A845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7534E"/>
                </a:solidFill>
              </a:defRPr>
            </a:pPr>
            <a:r>
              <a:rPr sz="1650" b="1" i="0">
                <a:solidFill>
                  <a:srgbClr val="57534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32A837-3E9B-4354-8678-4922C30D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1381125" cy="198120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5A9726-77A3-4AB9-A721-0244CBA2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6A1B"/>
                </a:solidFill>
              </a:defRPr>
            </a:pPr>
            <a:r>
              <a:rPr sz="1350" b="1" i="0">
                <a:solidFill>
                  <a:srgbClr val="C96A1B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A8F66-07F5-42B8-86CE-58D6ACF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1076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B"/>
                </a:solidFill>
              </a:defRPr>
            </a:pPr>
            <a:r>
              <a:rPr sz="1650" b="1" i="0">
                <a:solidFill>
                  <a:srgbClr val="18181B"/>
                </a:solidFill>
              </a:rPr>
              <a:t>三选一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D82E55-54A8-4B1E-A5D4-816E7064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1076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新工具 / 新分支 / 分支迭代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C9608-56DF-42A5-912D-E2571DD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7534E"/>
                </a:solidFill>
              </a:defRPr>
            </a:pPr>
            <a:r>
              <a:rPr sz="1650" b="1" i="0">
                <a:solidFill>
                  <a:srgbClr val="57534E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0D0EF6-BE14-4011-ABF7-3A63402E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24100"/>
            <a:ext cx="1381125" cy="198120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38C25F-3D46-49AE-BE1F-0C825668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9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6A1B"/>
                </a:solidFill>
              </a:defRPr>
            </a:pPr>
            <a:r>
              <a:rPr sz="1350" b="1" i="0">
                <a:solidFill>
                  <a:srgbClr val="C96A1B"/>
                </a:solidFill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5B8886-17B4-47F9-976D-52EC62FE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38450"/>
            <a:ext cx="1076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B"/>
                </a:solidFill>
              </a:defRPr>
            </a:pPr>
            <a:r>
              <a:rPr sz="1650" b="1" i="0">
                <a:solidFill>
                  <a:srgbClr val="18181B"/>
                </a:solidFill>
              </a:rPr>
              <a:t>Composer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351DD5-65D6-4B30-80C6-2CD025B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29000"/>
            <a:ext cx="1076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组织变体，不洗掉年轮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28312E-185E-4AFC-B40F-7C25C833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7534E"/>
                </a:solidFill>
              </a:defRPr>
            </a:pPr>
            <a:r>
              <a:rPr sz="1650" b="1" i="0">
                <a:solidFill>
                  <a:srgbClr val="57534E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858C0E-8522-4F20-97F2-681C5CD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24100"/>
            <a:ext cx="1381125" cy="198120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A49341-CC4F-476C-9F24-6DEB8F7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9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6A1B"/>
                </a:solidFill>
              </a:defRPr>
            </a:pPr>
            <a:r>
              <a:rPr sz="1350" b="1" i="0">
                <a:solidFill>
                  <a:srgbClr val="C96A1B"/>
                </a:solidFill>
              </a:rPr>
              <a:t>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03C985-E5D7-4EC3-ADA5-65A1F821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38450"/>
            <a:ext cx="1076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B"/>
                </a:solidFill>
              </a:defRPr>
            </a:pPr>
            <a:r>
              <a:rPr sz="1650" b="1" i="0">
                <a:solidFill>
                  <a:srgbClr val="18181B"/>
                </a:solidFill>
              </a:rPr>
              <a:t>Warm-start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043AE5-5CBC-4875-9094-3DC7487A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1076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下次先复用，再决定要不要重写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01C145-2756-43FC-953C-0ACC1127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关键差异在中间两刀：Output Gate 只判输出属性达不达标，Composer 只组织变体、不消灭变体。这样才能保住 `_repair_*`、fallback、branch scars 这些真价值。</a:t>
            </a:r>
          </a:p>
        </p:txBody>
      </p:sp>
    </p:spTree>
    <p:extLst>
      <p:ext uri="{BB962C8B-B14F-4D97-AF65-F5344CB8AC3E}">
        <p14:creationId xmlns:p14="http://schemas.microsoft.com/office/powerpoint/2010/main" val="886094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DC3F7-3FB5-47CA-8623-6FDCFCC2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AC5F6-4C8F-4E22-8E05-BE4EEB3C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B8F3E-2553-43D4-A269-0DE6E45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8CCDD-68A0-4DC0-A3D0-52F2AE85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3F7A0-B7C7-4BAB-A38E-DA5EE980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11150-40A5-42E1-AFD7-D5285234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参考谁，但在哪一刀分道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9C572-CF23-4F0F-B9C0-5B8C120C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Yunjue 给骨架，Letta 给 manifest 直觉，MCP 给执行面；真正自己做的是“组织变体而不是洗掉变体”。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B02F1-9564-4D8A-8D0B-D9D0CBA7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095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8A3FF-5C03-40A8-9B20-61F8F7E6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B"/>
                </a:solidFill>
              </a:defRPr>
            </a:pPr>
            <a:r>
              <a:rPr sz="1575" b="1" i="0">
                <a:solidFill>
                  <a:srgbClr val="18181B"/>
                </a:solidFill>
              </a:rPr>
              <a:t>Yunjue-Agent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CB396-4703-492F-BAD1-B2F8C0EB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3276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F07E2-9BAA-4D94-A6FD-5103900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240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34E"/>
                </a:solidFill>
              </a:defRPr>
            </a:pPr>
            <a:r>
              <a:rPr sz="1200" b="0" i="0">
                <a:solidFill>
                  <a:srgbClr val="57534E"/>
                </a:solidFill>
              </a:rPr>
              <a:t>create / verify / reuse / absorb / generalize 的生命周期；R_miss；批量演化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8D4AC-A5D4-490A-8722-6F3AA98C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3624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D8AFD-62E5-4374-909B-4CB1C64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把 Merger 改成 Composer：我们不追求 canonical，小伤疤也要保住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B148C-DB4B-4547-92E4-5BF5D0B3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8E0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FDF6D-385C-4525-B6C5-01B5E803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B"/>
                </a:solidFill>
              </a:defRPr>
            </a:pPr>
            <a:r>
              <a:rPr sz="1575" b="1" i="0">
                <a:solidFill>
                  <a:srgbClr val="18181B"/>
                </a:solidFill>
              </a:rPr>
              <a:t>Letta / MemFS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B40AC-99A2-4C7D-BE2C-14C84EBD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3276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D1F7C-891F-4D04-9203-33824563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34E"/>
                </a:solidFill>
              </a:defRPr>
            </a:pPr>
            <a:r>
              <a:rPr sz="1200" b="0" i="0">
                <a:solidFill>
                  <a:srgbClr val="57534E"/>
                </a:solidFill>
              </a:rPr>
              <a:t>manifest 分层、git versioning、渐进披露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0BF23-4CCC-4F3A-8BAD-93F6B604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3624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B235E-B7B1-4C8B-9865-6CDEE71E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manifest 由带外 daemon 写，不让 agent 自己维护记忆文件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7A5D9-28A0-4B02-8986-5BEF885A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095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7DBD7-EE41-4AC2-9CE5-70738F0E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B"/>
                </a:solidFill>
              </a:defRPr>
            </a:pPr>
            <a:r>
              <a:rPr sz="1575" b="1" i="0">
                <a:solidFill>
                  <a:srgbClr val="18181B"/>
                </a:solidFill>
              </a:rPr>
              <a:t>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B8E78-A8AE-41D5-AE7F-F2C4D9F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57600"/>
            <a:ext cx="3276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A02B1-3B38-41CF-9FB4-CCD0A7C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909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34E"/>
                </a:solidFill>
              </a:defRPr>
            </a:pPr>
            <a:r>
              <a:rPr sz="1200" b="0" i="0">
                <a:solidFill>
                  <a:srgbClr val="57534E"/>
                </a:solidFill>
              </a:rPr>
              <a:t>统一执行接口、统一调用入口、统一工具暴露方式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55D93-ACD0-4ECC-BA28-5FDE3900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3624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48DF4-B350-4C5F-B4DD-83B22D4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MCP 不是宿主体验层；promoted 也不等于 exposed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D0321-CA90-4808-BF64-976BCA83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95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8E0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666EF-F7DA-43C5-8251-5B515315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B"/>
                </a:solidFill>
              </a:defRPr>
            </a:pPr>
            <a:r>
              <a:rPr sz="1575" b="1" i="0">
                <a:solidFill>
                  <a:srgbClr val="18181B"/>
                </a:solidFill>
              </a:rPr>
              <a:t>doc2md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A0D5B6-AC63-4BA7-ACD4-F77094E2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91050"/>
            <a:ext cx="3276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507B8-C41B-48FB-A5EF-8012289C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244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7534E"/>
                </a:solidFill>
              </a:defRPr>
            </a:pPr>
            <a:r>
              <a:rPr sz="1200" b="0" i="0">
                <a:solidFill>
                  <a:srgbClr val="57534E"/>
                </a:solidFill>
              </a:rPr>
              <a:t>真实终态尺子：一个目的、多分支、共享后处理、lineage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95840F-36E3-4D38-9B9E-057C3E73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3624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4E1DB-9EB2-4665-8664-468A8706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181B"/>
                </a:solidFill>
              </a:defRPr>
            </a:pPr>
            <a:r>
              <a:rPr sz="1200" b="1" i="0">
                <a:solidFill>
                  <a:srgbClr val="18181B"/>
                </a:solidFill>
              </a:rPr>
              <a:t>它不是 demo，而是决定我们该怎么定义“成熟工具”</a:t>
            </a:r>
          </a:p>
        </p:txBody>
      </p:sp>
    </p:spTree>
    <p:extLst>
      <p:ext uri="{BB962C8B-B14F-4D97-AF65-F5344CB8AC3E}">
        <p14:creationId xmlns:p14="http://schemas.microsoft.com/office/powerpoint/2010/main" val="248367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AC009-DB5C-4F1A-BD3E-1A1D8198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717EA-851E-4D01-9C99-4B7C3212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3A7B5-BB6E-41FD-B6BA-17A7883C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653B5-AE26-4EC0-9756-A350773C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4416E-D078-4DBB-9C42-2CFFAB9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A3B8D-10F0-4D9B-84B0-3F928080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个人外挂只是起点，终局是项目组手艺网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D1373-3CE8-4C58-B8E2-A1B727DD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同一套引擎在不同作用域下，关心的不是同一件事。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6ED6E-0BFD-4657-ADD0-C307CB4E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36004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CB0D3-4E7C-4359-AD76-277725D7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DC"/>
          </a:solidFill>
          <a:ln xmlns:a="http://schemas.openxmlformats.org/drawingml/2006/main" w="0">
            <a:solidFill>
              <a:srgbClr val="EEE7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7F0F2-6936-4661-AFAC-8749373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0502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</a:defRPr>
            </a:pPr>
            <a:r>
              <a:rPr sz="900" b="1" i="0">
                <a:solidFill>
                  <a:srgbClr val="0F766E"/>
                </a:solidFill>
              </a:rPr>
              <a:t>先跑通一个人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21871-5BA0-4D64-AC7B-CCC95112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B"/>
                </a:solidFill>
              </a:defRPr>
            </a:pPr>
            <a:r>
              <a:rPr sz="1950" b="1" i="0">
                <a:solidFill>
                  <a:srgbClr val="18181B"/>
                </a:solidFill>
              </a:rPr>
              <a:t>个人模式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21D62-AE02-4ACB-848E-C862DA2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06E2A-F9DA-4E93-83A3-8362227E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本地 sidecar，优先无感、低摩擦、立刻见效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511F4-A80C-48B4-A75A-4ACE6958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1780E-E26A-41C2-A60D-16065CFB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候选能力先服务自己：先有用，再谈 shared 和规范化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5B688-ECF1-408F-9CAC-8628098A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B9588-A762-4476-AC52-042E86E4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review 最小化，允许 provisional、shadow、保守默认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EE2C6-2EB6-4B7C-9054-91B1A88E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238500" cy="36004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7C283-A114-4487-9F02-68A7177A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8825B-BD07-424D-B276-86583208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0502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</a:defRPr>
            </a:pPr>
            <a:r>
              <a:rPr sz="900" b="1" i="0">
                <a:solidFill>
                  <a:srgbClr val="0F766E"/>
                </a:solidFill>
              </a:rPr>
              <a:t>开始跨人复用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A1453-EBF5-458F-9F11-6A189A18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B"/>
                </a:solidFill>
              </a:defRPr>
            </a:pPr>
            <a:r>
              <a:rPr sz="1950" b="1" i="0">
                <a:solidFill>
                  <a:srgbClr val="18181B"/>
                </a:solidFill>
              </a:rPr>
              <a:t>团队模式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0A2FE-BD9F-411E-8C1B-B1AFA62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5117E-148D-4EB9-9B47-8C9645AB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051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引入 shared fixtures、review queue、visibility 和 exposure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64ECB-D8D6-427D-B42E-AA9645B3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FF1C1-5E27-40CE-9180-63874058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promoted 变成团队资产，开始关心误召回、依赖、权限和责任边界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59A3EC-E456-47FE-AA15-BE2F4B64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7CE4A-7996-44E6-99DB-372DB847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243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pull 审查仍成立，但严重事故必须低噪声可见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EDCB6B-8AE1-4B02-9E0C-4511F1D7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238500" cy="36004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B36BDF-11F5-4713-9731-94DC9C9C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B277E2-2E78-4237-9EF9-4533B700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0502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309"/>
                </a:solidFill>
              </a:defRPr>
            </a:pPr>
            <a:r>
              <a:rPr sz="900" b="1" i="0">
                <a:solidFill>
                  <a:srgbClr val="B45309"/>
                </a:solidFill>
              </a:rPr>
              <a:t>最终蒸馏的是项目组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F2941A-B7DE-4015-9D98-4A3F6650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B"/>
                </a:solidFill>
              </a:defRPr>
            </a:pPr>
            <a:r>
              <a:rPr sz="1950" b="1" i="0">
                <a:solidFill>
                  <a:srgbClr val="18181B"/>
                </a:solidFill>
              </a:rPr>
              <a:t>项目组模式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84F84C-F495-4C1B-87DA-CE94180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A6681-08A0-4ECD-BF54-19597E5E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多个团队共享一张能力网：相同目的合并，不同环境保留分支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507F84-F9A7-4FAB-96CE-4213E7E8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2B7FBF-382A-4113-A673-A19DD01C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重点从“我能不能复用”转成“别人能不能安全复用”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9A6CC5-CF77-4195-9EB5-67C83A8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24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81B"/>
                </a:solidFill>
              </a:defRPr>
            </a:pPr>
            <a:r>
              <a:rPr sz="1275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023B69-2C89-4E9E-B5F1-3F644025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B"/>
                </a:solidFill>
              </a:defRPr>
            </a:pPr>
            <a:r>
              <a:rPr sz="1275" b="0" i="0">
                <a:solidFill>
                  <a:srgbClr val="18181B"/>
                </a:solidFill>
              </a:rPr>
              <a:t>治理对象不再是脚本，而是成熟能力、shared steps 和 review policies</a:t>
            </a:r>
          </a:p>
        </p:txBody>
      </p:sp>
    </p:spTree>
    <p:extLst>
      <p:ext uri="{BB962C8B-B14F-4D97-AF65-F5344CB8AC3E}">
        <p14:creationId xmlns:p14="http://schemas.microsoft.com/office/powerpoint/2010/main" val="905165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25925-B69D-452D-A0D6-ED597F04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7D29A-459B-49FF-83F2-957D088A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C9548-9436-41D0-9531-271934F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AE611-0588-4B69-A765-B696272C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671FB-B546-4B88-B662-1FA05CD7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5399D-FA27-42B4-951A-D0AAB4A2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审查是 pull，但影响前台的动作必须有门槛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05F98-FA2C-43A6-9C37-44A3E0EF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机器先整理证据，人只裁决归类、晋升、暴露和回滚。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56EC0-5BE2-4CD5-851E-A3A31A91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05350" cy="31623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827A9-6529-4F1D-B5F1-24AF43B0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39FDE-9DAC-4413-8CB4-08A5CB26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431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</a:defRPr>
            </a:pPr>
            <a:r>
              <a:rPr sz="900" b="1" i="0">
                <a:solidFill>
                  <a:srgbClr val="0F766E"/>
                </a:solidFill>
              </a:rPr>
              <a:t>machine 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4DACF-9BB3-4DE0-BE98-F5BE4928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B"/>
                </a:solidFill>
              </a:defRPr>
            </a:pPr>
            <a:r>
              <a:rPr sz="1650" b="1" i="0">
                <a:solidFill>
                  <a:srgbClr val="18181B"/>
                </a:solidFill>
              </a:rPr>
              <a:t>自动部分负责把证据整理成一个 ReviewItem，而不是把人重新丢回完整项目里。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2713A-AB9B-4217-B568-98FBD7E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7534E"/>
                </a:solidFill>
              </a:defRPr>
            </a:pPr>
            <a:r>
              <a:rPr sz="1275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20D00-1C93-47FB-A051-FD5AB12D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7534E"/>
                </a:solidFill>
              </a:defRPr>
            </a:pPr>
            <a:r>
              <a:rPr sz="1275" b="0" i="0">
                <a:solidFill>
                  <a:srgbClr val="57534E"/>
                </a:solidFill>
              </a:rPr>
              <a:t>Gate 结果：能不能跑、输出达不达标、契约抽得清不清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7F2AB-EBF9-41E8-90BD-4D51380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7534E"/>
                </a:solidFill>
              </a:defRPr>
            </a:pPr>
            <a:r>
              <a:rPr sz="1275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4F300-2CB1-474F-83F8-8CAC5BF1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7534E"/>
                </a:solidFill>
              </a:defRPr>
            </a:pPr>
            <a:r>
              <a:rPr sz="1275" b="0" i="0">
                <a:solidFill>
                  <a:srgbClr val="57534E"/>
                </a:solidFill>
              </a:rPr>
              <a:t>比较结果：和已有 branch / baseline / R_miss 的关系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344F5-9B16-45F8-8452-B4457E81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7534E"/>
                </a:solidFill>
              </a:defRPr>
            </a:pPr>
            <a:r>
              <a:rPr sz="1275" b="1" i="0">
                <a:solidFill>
                  <a:srgbClr val="57534E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24372-2A92-44F3-AE08-9E70DE4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7534E"/>
                </a:solidFill>
              </a:defRPr>
            </a:pPr>
            <a:r>
              <a:rPr sz="1275" b="0" i="0">
                <a:solidFill>
                  <a:srgbClr val="57534E"/>
                </a:solidFill>
              </a:rPr>
              <a:t>默认安全态：stable_active 不轻易替换，疑似误合并先 freeze 影响面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EEAD0-F486-4D51-B45A-A6691ED4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47850"/>
            <a:ext cx="4953000" cy="31623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3211E"/>
          </a:solidFill>
          <a:ln xmlns:a="http://schemas.openxmlformats.org/drawingml/2006/main" w="0">
            <a:solidFill>
              <a:srgbClr val="2321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50DA1-62C9-40C4-A61C-5FCD674C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22C"/>
          </a:solidFill>
          <a:ln xmlns:a="http://schemas.openxmlformats.org/drawingml/2006/main" w="0">
            <a:solidFill>
              <a:srgbClr val="3A32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DD8FF-A7BD-4B21-8E72-AE17B7F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D0AD"/>
                </a:solidFill>
              </a:defRPr>
            </a:pPr>
            <a:r>
              <a:rPr sz="900" b="1" i="0">
                <a:solidFill>
                  <a:srgbClr val="F1D0AD"/>
                </a:solidFill>
              </a:rPr>
              <a:t>human lane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D1C7B-00E5-4B88-B395-F68B835F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403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人工不是重跑测试，而是决定这个东西该以什么身份进入能力库。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C0065-8D62-4099-908D-51FFD894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147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E5E4"/>
                </a:solidFill>
              </a:defRPr>
            </a:pPr>
            <a:r>
              <a:rPr sz="1275" b="1" i="0">
                <a:solidFill>
                  <a:srgbClr val="E7E5E4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B760F-FC13-489E-9D8E-E4C2AB93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7E5E4"/>
                </a:solidFill>
              </a:defRPr>
            </a:pPr>
            <a:r>
              <a:rPr sz="1275" b="0" i="0">
                <a:solidFill>
                  <a:srgbClr val="E7E5E4"/>
                </a:solidFill>
              </a:rPr>
              <a:t>approve-new-skill / approve-new-branch / approve-iteration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7DEF4-ABB1-4E8A-945F-BCE1C642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52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E5E4"/>
                </a:solidFill>
              </a:defRPr>
            </a:pPr>
            <a:r>
              <a:rPr sz="1275" b="1" i="0">
                <a:solidFill>
                  <a:srgbClr val="E7E5E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62022-1061-44E8-A58D-9E8E85FE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7E5E4"/>
                </a:solidFill>
              </a:defRPr>
            </a:pPr>
            <a:r>
              <a:rPr sz="1275" b="0" i="0">
                <a:solidFill>
                  <a:srgbClr val="E7E5E4"/>
                </a:solidFill>
              </a:rPr>
              <a:t>keep-fallback / pin-path-b / expose / unexpose / rollback-review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81919-B191-4DA7-8AAB-24675128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E5E4"/>
                </a:solidFill>
              </a:defRPr>
            </a:pPr>
            <a:r>
              <a:rPr sz="1275" b="1" i="0">
                <a:solidFill>
                  <a:srgbClr val="E7E5E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22FD4-AB04-4BD4-B3A2-A8B5F36B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7E5E4"/>
                </a:solidFill>
              </a:defRPr>
            </a:pPr>
            <a:r>
              <a:rPr sz="1275" b="0" i="0">
                <a:solidFill>
                  <a:srgbClr val="E7E5E4"/>
                </a:solidFill>
              </a:rPr>
              <a:t>所有动作写 lineage，走原子写和 reconcile，不允许直接改 manifest 了事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0D5308-A5B9-48AB-A31A-63CD7D4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一句话：待审不阻塞采集和分析，但可以阻塞 promoted -&gt; exposed、shared_post_processing 提升、团队发布。</a:t>
            </a:r>
          </a:p>
        </p:txBody>
      </p:sp>
    </p:spTree>
    <p:extLst>
      <p:ext uri="{BB962C8B-B14F-4D97-AF65-F5344CB8AC3E}">
        <p14:creationId xmlns:p14="http://schemas.microsoft.com/office/powerpoint/2010/main" val="1117897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AEE723-5F07-4289-BD7A-2DC1DEC4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C6B79-2E02-4455-8517-46FFFBB5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FCE4D-DA69-4EBA-BE1B-904C296A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482E0-0B5F-4740-A4F5-8F95DB11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68A9C-0EFC-4251-B592-13898A03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34193-14A8-458A-8167-13C04D03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运维层：三进程、断点续接、低摩擦不是锦上添花，是命门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73F8E-2DB9-4946-8987-99F81E45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系统如果会拖前台后腿，就永远不会真的被长期打开。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A3685-B7D2-434D-9638-1C84806D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6670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5AA5E-64CF-49B1-88A2-D026749B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181B"/>
                </a:solidFill>
              </a:defRPr>
            </a:pPr>
            <a:r>
              <a:rPr sz="2100" b="1" i="0">
                <a:solidFill>
                  <a:srgbClr val="18181B"/>
                </a:solidFill>
              </a:rPr>
              <a:t>Capture Hook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5E68A-7F0A-4751-B65F-25E23660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CC 内唯一同步点</a:t>
            </a:r>
          </a:p>
          <a:p xmlns:a="http://schemas.openxmlformats.org/drawingml/2006/main">
            <a:pPr algn="ctr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append-only / &lt;5ms / 静默失败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0BE4C-8135-4EF3-AAC6-CA3112E0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7534E"/>
                </a:solidFill>
              </a:defRPr>
            </a:pPr>
            <a:r>
              <a:rPr sz="2100" b="1" i="0">
                <a:solidFill>
                  <a:srgbClr val="57534E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3357B-8D0B-4287-9BA0-E32B521C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09800"/>
            <a:ext cx="26670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702B7-0B83-4015-8408-09B563DE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181B"/>
                </a:solidFill>
              </a:defRPr>
            </a:pPr>
            <a:r>
              <a:rPr sz="2100" b="1" i="0">
                <a:solidFill>
                  <a:srgbClr val="18181B"/>
                </a:solidFill>
              </a:rPr>
              <a:t>Distiller Daemon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DB7C9-453B-4143-A9DE-F6FC365E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空闲触发 / 批处理 / Replay + Gate + Composer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C16DF-AF72-455A-8DC8-D1729991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7534E"/>
                </a:solidFill>
              </a:defRPr>
            </a:pPr>
            <a:r>
              <a:rPr sz="2100" b="1" i="0">
                <a:solidFill>
                  <a:srgbClr val="57534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A3A43-C2F7-425B-91FA-0B5DC8D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26670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5BFA6-A818-4051-B8EC-7BEDA1B4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181B"/>
                </a:solidFill>
              </a:defRPr>
            </a:pPr>
            <a:r>
              <a:rPr sz="2100" b="1" i="0">
                <a:solidFill>
                  <a:srgbClr val="18181B"/>
                </a:solidFill>
              </a:rPr>
              <a:t>MCP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B79AA-BF76-41BE-B3E3-CB6AC3E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统一执行面 / warm-start 入口 / exposed tool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2C787-E469-404D-BFB8-796C761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B2E23-D13D-4610-8F31-1A0CDE7B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912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断点续接：processing_stage、幂等阶段、原子写、crash 后可续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B7E51-DFB9-4578-8C51-B0BBBF5D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69A67-9F58-454F-87D1-21979511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912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默认零配置：judge 优先复用现有凭证；疑难再升级模型档位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AB6CD-DE67-4788-B59D-122B1CB7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D8FB0-6CE9-4FA4-9AE0-0D489697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912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可观测：queue depth、capture drop、retry、dead-letter、health status 都得能看见</a:t>
            </a:r>
          </a:p>
        </p:txBody>
      </p:sp>
    </p:spTree>
    <p:extLst>
      <p:ext uri="{BB962C8B-B14F-4D97-AF65-F5344CB8AC3E}">
        <p14:creationId xmlns:p14="http://schemas.microsoft.com/office/powerpoint/2010/main" val="1548268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F0B04E-2E39-4084-AE48-3AF1CD61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9657C-863E-4F7C-8B3B-F51569AC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E1456-8C0E-40D5-8777-A53E087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6A7D2-52BC-4923-8A53-91187AC7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D06D7-58D4-4749-9F75-12818A81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96AFC-84EB-4EDD-B0E2-C83E4B1E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价值怎么讲：先用预演口径证明方向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44DD6-FDA3-4F22-AFFA-C8B6E60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以下数字按“文档转 markdown”场景做内部推演，用来讨论优先级，不是假装已经真实压测。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70EAD-6950-4673-BF2D-78C8D004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29350" cy="35814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009650" y="2362200"/>
          <a:ext xmlns:a="http://schemas.openxmlformats.org/drawingml/2006/main" cx="5524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e653222fad4c4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6E1F6-9109-4B94-97C1-1CFD284A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7534E"/>
                </a:solidFill>
              </a:defRPr>
            </a:pPr>
            <a:r>
              <a:rPr sz="1050" b="0" i="0">
                <a:solidFill>
                  <a:srgbClr val="57534E"/>
                </a:solidFill>
              </a:rPr>
              <a:t>预演口径：同一项目组内的文档处理和杂活脚本场景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780EA-FEB8-4514-83C4-241D9932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37338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E2A58-69CA-4495-AB15-0EA2AF16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6A1B"/>
                </a:solidFill>
              </a:defRPr>
            </a:pPr>
            <a:r>
              <a:rPr sz="1950" b="1" i="0">
                <a:solidFill>
                  <a:srgbClr val="C96A1B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67745-C7C5-4D86-A5CF-26D2400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B"/>
                </a:solidFill>
              </a:defRPr>
            </a:pPr>
            <a:r>
              <a:rPr sz="1500" b="1" i="0">
                <a:solidFill>
                  <a:srgbClr val="18181B"/>
                </a:solidFill>
              </a:rPr>
              <a:t>能力种子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31398-2D6B-4EA2-B603-E9D89665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MVP 成功线不是做出“完美 doc2md”，而是从 trace 里长出 1 个带 3 个纯 Python 分支的能力种子。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7D425-467E-48A4-AF82-FF977823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9900"/>
            <a:ext cx="37338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1742C-B0F4-4338-A6CD-A16D6F34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6A1B"/>
                </a:solidFill>
              </a:defRPr>
            </a:pPr>
            <a:r>
              <a:rPr sz="1950" b="1" i="0">
                <a:solidFill>
                  <a:srgbClr val="C96A1B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A52FD-30C2-4404-906F-90E45491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B"/>
                </a:solidFill>
              </a:defRPr>
            </a:pPr>
            <a:r>
              <a:rPr sz="1500" b="1" i="0">
                <a:solidFill>
                  <a:srgbClr val="18181B"/>
                </a:solidFill>
              </a:rPr>
              <a:t>真实信号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7580D-6FF3-4ECA-83E3-F81DEBB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最重要的不是沉淀量，而是 warm-start 命中后大家直接复用，不再重写。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9E6C5-6F7A-4461-850F-F5C6DCF7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33850"/>
            <a:ext cx="37338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FE7DB"/>
          </a:solidFill>
          <a:ln xmlns:a="http://schemas.openxmlformats.org/drawingml/2006/main" w="0">
            <a:solidFill>
              <a:srgbClr val="EFE7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99A1B-A289-4F3A-9A73-AA3D449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6A1B"/>
                </a:solidFill>
              </a:defRPr>
            </a:pPr>
            <a:r>
              <a:rPr sz="1950" b="1" i="0">
                <a:solidFill>
                  <a:srgbClr val="C96A1B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15E56-713E-4242-8B0E-53DE289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B"/>
                </a:solidFill>
              </a:defRPr>
            </a:pPr>
            <a:r>
              <a:rPr sz="1500" b="1" i="0">
                <a:solidFill>
                  <a:srgbClr val="18181B"/>
                </a:solidFill>
              </a:rPr>
              <a:t>组织价值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C452-F295-4B7D-B9B7-51B494FB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7534E"/>
                </a:solidFill>
              </a:defRPr>
            </a:pPr>
            <a:r>
              <a:rPr sz="1125" b="0" i="0">
                <a:solidFill>
                  <a:srgbClr val="57534E"/>
                </a:solidFill>
              </a:rPr>
              <a:t>进入团队 / 项目组后，节省的不只是脚本时间，更是交接、review、回退和踩坑成本。</a:t>
            </a:r>
          </a:p>
        </p:txBody>
      </p:sp>
    </p:spTree>
    <p:extLst>
      <p:ext uri="{BB962C8B-B14F-4D97-AF65-F5344CB8AC3E}">
        <p14:creationId xmlns:p14="http://schemas.microsoft.com/office/powerpoint/2010/main" val="637168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5187FE-31E3-48AE-ADEE-6404ECE2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0F546-E3AD-44C7-80A8-72B715E7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7669A-7EC4-45D6-8AF5-B37A7B7D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1136F-65BE-45E9-AA53-E8FF8C01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0A0D7-BCAF-450A-953D-2F9C0D2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71B7D-E517-4907-A5BB-DB704DB1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B"/>
                </a:solidFill>
              </a:defRPr>
            </a:pPr>
            <a:r>
              <a:rPr sz="2625" b="1" i="0">
                <a:solidFill>
                  <a:srgbClr val="18181B"/>
                </a:solidFill>
              </a:rPr>
              <a:t>90 天路线图：先跑通一个目的，再放大作用域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D17D-406D-419F-AF9D-98FAE60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7534E"/>
                </a:solidFill>
              </a:defRPr>
            </a:pPr>
            <a:r>
              <a:rPr sz="1350" b="0" i="0">
                <a:solidFill>
                  <a:srgbClr val="57534E"/>
                </a:solidFill>
              </a:rPr>
              <a:t>MVP 要诚实，团队版才值得真正加固。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01AF1-AA9C-444F-9BE4-646D0CFC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242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C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92185-89CC-4D11-AE43-D08DBE92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6A1B"/>
                </a:solidFill>
              </a:defRPr>
            </a:pPr>
            <a:r>
              <a:rPr sz="1125" b="1" i="0">
                <a:solidFill>
                  <a:srgbClr val="C96A1B"/>
                </a:solidFill>
              </a:rPr>
              <a:t>0-30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331D3-9000-49EF-B34E-7AB68A5D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181B"/>
                </a:solidFill>
              </a:defRPr>
            </a:pPr>
            <a:r>
              <a:rPr sz="2100" b="1" i="0">
                <a:solidFill>
                  <a:srgbClr val="18181B"/>
                </a:solidFill>
              </a:rPr>
              <a:t>单人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B2737-75C7-4374-B2A0-92C1735A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91686-FF48-4430-8B17-DA9C67EE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只做 Claude Code + 文档转 markdown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51EEB-8C87-4A43-B32A-605D6939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71F47-0CC2-4565-AAEB-C88582F9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只自动转正纯 Python / 无系统依赖分支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D4509-6372-477C-9102-14B60574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9F7CF-3A5F-4A5C-A626-D741EF8A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跑通 capture -&gt; replay -&gt; output gate -&gt; contract -&gt; warm-start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F48BF-A8F8-4F5A-AF52-C0AF469F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81200"/>
            <a:ext cx="31242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FCF93-52CC-43C3-95F5-F39765D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6A1B"/>
                </a:solidFill>
              </a:defRPr>
            </a:pPr>
            <a:r>
              <a:rPr sz="1125" b="1" i="0">
                <a:solidFill>
                  <a:srgbClr val="C96A1B"/>
                </a:solidFill>
              </a:rPr>
              <a:t>30-60 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09DC0-4769-4616-A657-DE087D43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181B"/>
                </a:solidFill>
              </a:defRPr>
            </a:pPr>
            <a:r>
              <a:rPr sz="2100" b="1" i="0">
                <a:solidFill>
                  <a:srgbClr val="18181B"/>
                </a:solidFill>
              </a:rPr>
              <a:t>团队 alpha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C4AE6-AEBF-4DF3-9F3C-4A6A2F19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0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0D885-B271-44C5-A58D-A3C2C441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加 review queue、visibility、shared fixtures、exposure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4916E-9C8F-4188-A175-1AFF78BB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90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E32CE-86F3-4D23-B919-BB86A38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开始区分 promoted / exposed / team-published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82A17-C7BF-49A2-81E4-81C52ADA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75E0E-EF3E-487A-9D25-1BD04A76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把个人外挂变成小团队共享外挂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7B89C-C185-4E80-8EDE-2D80F9B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31242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B21788-05C6-423D-AAAE-BDF4F653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6A1B"/>
                </a:solidFill>
              </a:defRPr>
            </a:pPr>
            <a:r>
              <a:rPr sz="1125" b="1" i="0">
                <a:solidFill>
                  <a:srgbClr val="C96A1B"/>
                </a:solidFill>
              </a:rPr>
              <a:t>60-90 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4F473-1CA0-49CF-92BC-3CEA015E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181B"/>
                </a:solidFill>
              </a:defRPr>
            </a:pPr>
            <a:r>
              <a:rPr sz="2100" b="1" i="0">
                <a:solidFill>
                  <a:srgbClr val="18181B"/>
                </a:solidFill>
              </a:rPr>
              <a:t>项目组 beta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88C24-C9F0-4DF5-BC75-6DDA25FB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0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CCB7C-7DAB-48B8-9C06-99079CAF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004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把多个团队的同目的能力收敛成项目组手艺网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6DF03D-8321-4468-8E73-2F69573E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90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DA636-516A-4428-97CD-D17F9CA3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引入更严格的 health、GC、权限与回滚策略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9DA6CF-422E-457D-8AE9-444C5EA0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81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B"/>
                </a:solidFill>
              </a:defRPr>
            </a:pPr>
            <a:r>
              <a:rPr sz="1350" b="1" i="0">
                <a:solidFill>
                  <a:srgbClr val="18181B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CA8889-DDC0-4844-8951-066BDB6D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815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B"/>
                </a:solidFill>
              </a:defRPr>
            </a:pPr>
            <a:r>
              <a:rPr sz="1350" b="0" i="0">
                <a:solidFill>
                  <a:srgbClr val="18181B"/>
                </a:solidFill>
              </a:rPr>
              <a:t>把“有人会做”真正变成“组织会做”</a:t>
            </a:r>
          </a:p>
        </p:txBody>
      </p:sp>
    </p:spTree>
    <p:extLst>
      <p:ext uri="{BB962C8B-B14F-4D97-AF65-F5344CB8AC3E}">
        <p14:creationId xmlns:p14="http://schemas.microsoft.com/office/powerpoint/2010/main" val="20912348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73B6C1-71C4-43F9-A77C-7B10198F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solidFill>
              <a:srgbClr val="C96A1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80FFC-7B34-4E5F-9790-7FE4D22B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DAC6"/>
          </a:solidFill>
          <a:ln xmlns:a="http://schemas.openxmlformats.org/drawingml/2006/main" w="0">
            <a:solidFill>
              <a:srgbClr val="EEDA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1DB4D-1793-4F39-B97C-E5EA653F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B8E27-1599-4B54-A090-38DE544C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手艺人蒸馏器 xs / internal pre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561CC-29C1-4420-A9E1-080FF58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7534E"/>
                </a:solidFill>
              </a:defRPr>
            </a:pPr>
            <a:r>
              <a:rPr sz="825" b="1" i="0">
                <a:solidFill>
                  <a:srgbClr val="57534E"/>
                </a:solidFill>
              </a:rPr>
              <a:t>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B419D-27A4-4490-AE40-AD1C9156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14D11-BE9C-4E2B-BA13-A6B33F97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29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</a:defRPr>
            </a:pPr>
            <a:r>
              <a:rPr sz="900" b="1" i="0">
                <a:solidFill>
                  <a:srgbClr val="0F766E"/>
                </a:solidFill>
              </a:rPr>
              <a:t>closing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40A94-550F-48ED-9F86-B92DD01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8181B"/>
                </a:solidFill>
              </a:defRPr>
            </a:pPr>
            <a:r>
              <a:rPr sz="3750" b="1" i="0">
                <a:solidFill>
                  <a:srgbClr val="18181B"/>
                </a:solidFill>
              </a:rPr>
              <a:t>先把一个目的炼成熟路，</a:t>
            </a:r>
          </a:p>
          <a:p xmlns:a="http://schemas.openxmlformats.org/drawingml/2006/main">
            <a:pPr algn="l">
              <a:defRPr sz="3750" b="1" i="0">
                <a:solidFill>
                  <a:srgbClr val="18181B"/>
                </a:solidFill>
              </a:defRPr>
            </a:pPr>
            <a:r>
              <a:rPr sz="3750" b="1" i="0">
                <a:solidFill>
                  <a:srgbClr val="18181B"/>
                </a:solidFill>
              </a:rPr>
              <a:t>再把整个项目组炼成会做事的网。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5A7A5-E703-49D3-A935-CB79B363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7534E"/>
                </a:solidFill>
              </a:defRPr>
            </a:pPr>
            <a:r>
              <a:rPr sz="1800" b="0" i="0">
                <a:solidFill>
                  <a:srgbClr val="57534E"/>
                </a:solidFill>
              </a:rPr>
              <a:t>如果这个方向成立，蒸馏器最终沉淀的就不是某个人的脚本集合，而是整个项目组在真实工作里慢慢长出来的手艺资产。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3DC15-9925-46E4-8DA0-43683EB2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47800"/>
            <a:ext cx="3143250" cy="32766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3211E"/>
          </a:solidFill>
          <a:ln xmlns:a="http://schemas.openxmlformats.org/drawingml/2006/main" w="0">
            <a:solidFill>
              <a:srgbClr val="2321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EDCC4-C5E9-47D4-8DB6-B7619355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E5E4"/>
                </a:solidFill>
              </a:defRPr>
            </a:pPr>
            <a:r>
              <a:rPr sz="1200" b="1" i="0">
                <a:solidFill>
                  <a:srgbClr val="E7E5E4"/>
                </a:solidFill>
              </a:rPr>
              <a:t>这版 deck 的目标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25CD6-987F-47E4-8419-7B754974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39DD1-13CD-4F93-B769-D8FAAAD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统一内部叙事：不是知识库，是手艺沉淀与回灌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2BB64-CF1A-454B-B532-826DEDF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A9C46-896C-4F66-8A37-0E189C1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确认第一条可跑通的目的：文档转 markdown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43D64-B7BB-4485-AC8B-0472226C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60C3E-7880-48F9-8200-523AC972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确认扩展方向：个人 -&gt; 团队 -&gt; 项目组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BE6AE-8203-4469-8EC1-B6BA13F2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24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195C4-88B4-46F5-B329-776EEA5D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确认门槛：无感、可回退、保年轮、先复用后重写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F9392-6D9B-4C2E-AA69-24E1438A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96A1B"/>
                </a:solidFill>
              </a:defRPr>
            </a:pPr>
            <a:r>
              <a:rPr sz="1500" b="1" i="0">
                <a:solidFill>
                  <a:srgbClr val="C96A1B"/>
                </a:solidFill>
              </a:rPr>
              <a:t>内部一句话：把社畜拿命试出来的活路，精细蒸馏成新人和 agent 都能复用的熟路。</a:t>
            </a:r>
          </a:p>
        </p:txBody>
      </p:sp>
    </p:spTree>
    <p:extLst>
      <p:ext uri="{BB962C8B-B14F-4D97-AF65-F5344CB8AC3E}">
        <p14:creationId xmlns:p14="http://schemas.microsoft.com/office/powerpoint/2010/main" val="1643713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2026-06-20T09:12:51.0570000Z</dcterms:created>
  <dcterms:modified xsi:type="dcterms:W3CDTF">2026-06-20T09:12:51.0570000Z</dcterms:modified>
</coreProperties>
</file>