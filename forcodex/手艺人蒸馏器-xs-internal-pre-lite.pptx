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每周少重写小时数</c:v>
          </c:tx>
          <c:spPr>
            <a:solidFill>
              <a:srgbClr val="C96A1B"/>
            </a:solidFill>
          </c:spPr>
          <c:invertIfNegative val="1"/>
          <c:dLbls>
            <c:delete val="1"/>
          </c:dLbls>
          <c:cat>
            <c:strLit>
              <c:ptCount val="3"/>
              <c:pt idx="0">
                <c:v>无蒸馏</c:v>
              </c:pt>
              <c:pt idx="1">
                <c:v>个人</c:v>
              </c:pt>
              <c:pt idx="2">
                <c:v>团队</c:v>
              </c:pt>
            </c:strLit>
          </c:cat>
          <c:val>
            <c:numLit>
              <c:formatCode>General</c:formatCode>
              <c:ptCount val="3"/>
              <c:pt idx="0">
                <c:v>0.5</c:v>
              </c:pt>
              <c:pt idx="1">
                <c:v>2.2000000000000002</c:v>
              </c:pt>
              <c:pt idx="2">
                <c:v>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B5B-462F-973E-A47E9DE10D2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8CDBE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54015AD7-BAE4-4CC8-B620-F9C2C51464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6A1B"/>
          </a:solidFill>
          <a:ln w="0">
            <a:solidFill>
              <a:srgbClr val="C96A1B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E4663AC-565F-411D-89D7-0AB5C607F433}"/>
              </a:ext>
            </a:extLst>
          </p:cNvPr>
          <p:cNvSpPr>
            <a:spLocks noGrp="1"/>
          </p:cNvSpPr>
          <p:nvPr/>
        </p:nvSpPr>
        <p:spPr>
          <a:xfrm>
            <a:off x="9601200" y="-1619250"/>
            <a:ext cx="3714750" cy="3714750"/>
          </a:xfrm>
          <a:prstGeom prst="ellipse">
            <a:avLst/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69C1BA22-F236-454E-AAF9-A997A42A988B}"/>
              </a:ext>
            </a:extLst>
          </p:cNvPr>
          <p:cNvSpPr>
            <a:spLocks noGrp="1"/>
          </p:cNvSpPr>
          <p:nvPr/>
        </p:nvSpPr>
        <p:spPr>
          <a:xfrm>
            <a:off x="9906000" y="4953000"/>
            <a:ext cx="2095500" cy="2095500"/>
          </a:xfrm>
          <a:prstGeom prst="ellipse">
            <a:avLst/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0C0E21-BFBC-4706-A64F-2B4BB163F534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light internal pre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F0AE2B-7DAE-4957-95CA-C82B5C23B782}"/>
              </a:ext>
            </a:extLst>
          </p:cNvPr>
          <p:cNvSpPr>
            <a:spLocks noGrp="1"/>
          </p:cNvSpPr>
          <p:nvPr/>
        </p:nvSpPr>
        <p:spPr>
          <a:xfrm>
            <a:off x="10858500" y="2286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1/8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DF5D292-2044-44C6-B2C5-3657D81F919D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1809750" cy="323850"/>
          </a:xfrm>
          <a:prstGeom prst="roundRect">
            <a:avLst>
              <a:gd name="adj" fmla="val 50000"/>
            </a:avLst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5C9A41-13F8-406E-8F40-1888F75BCFFD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15430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6A1B"/>
                </a:solidFill>
              </a:defRPr>
            </a:pPr>
            <a:r>
              <a:rPr sz="900" b="1">
                <a:solidFill>
                  <a:srgbClr val="C96A1B"/>
                </a:solidFill>
              </a:rPr>
              <a:t>内部预演 / 例子先行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20ECCE-5E0D-407F-9199-3E32AB6EFB69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477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171717"/>
                </a:solidFill>
              </a:defRPr>
            </a:pPr>
            <a:r>
              <a:rPr sz="4350" b="1">
                <a:solidFill>
                  <a:srgbClr val="171717"/>
                </a:solidFill>
              </a:rPr>
              <a:t>手艺人蒸馏器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D0ED9D-6603-4995-A193-583113015F64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572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57534E"/>
                </a:solidFill>
              </a:defRPr>
            </a:pPr>
            <a:r>
              <a:rPr sz="2100" b="0">
                <a:solidFill>
                  <a:srgbClr val="57534E"/>
                </a:solidFill>
              </a:rPr>
              <a:t>把社畜踩出来的活路，炼成下次不用重写的工具、熟路和团队资产。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4AF6FA-D5B3-442E-B9DC-5D283F099040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542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这版故意不讲重架构，先用一个例子把“为什么值得做”讲顺。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04E9136-A3C0-4340-B4D2-18D284F4198F}"/>
              </a:ext>
            </a:extLst>
          </p:cNvPr>
          <p:cNvSpPr>
            <a:spLocks noGrp="1"/>
          </p:cNvSpPr>
          <p:nvPr/>
        </p:nvSpPr>
        <p:spPr>
          <a:xfrm>
            <a:off x="7829550" y="1447800"/>
            <a:ext cx="3276600" cy="3181350"/>
          </a:xfrm>
          <a:prstGeom prst="roundRect">
            <a:avLst>
              <a:gd name="adj" fmla="val 7186"/>
            </a:avLst>
          </a:prstGeom>
          <a:solidFill>
            <a:srgbClr val="24211D"/>
          </a:solidFill>
          <a:ln w="0">
            <a:solidFill>
              <a:srgbClr val="2421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A00EF5-9DD5-4C0A-9AA6-12776CB57A4A}"/>
              </a:ext>
            </a:extLst>
          </p:cNvPr>
          <p:cNvSpPr>
            <a:spLocks noGrp="1"/>
          </p:cNvSpPr>
          <p:nvPr/>
        </p:nvSpPr>
        <p:spPr>
          <a:xfrm>
            <a:off x="8115300" y="1809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7E5E4"/>
                </a:solidFill>
              </a:defRPr>
            </a:pPr>
            <a:r>
              <a:rPr sz="1200" b="1">
                <a:solidFill>
                  <a:srgbClr val="E7E5E4"/>
                </a:solidFill>
              </a:rPr>
              <a:t>今天就讲四件事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A44BE13-D813-4438-89A7-1F881162D644}"/>
              </a:ext>
            </a:extLst>
          </p:cNvPr>
          <p:cNvSpPr>
            <a:spLocks noGrp="1"/>
          </p:cNvSpPr>
          <p:nvPr/>
        </p:nvSpPr>
        <p:spPr>
          <a:xfrm>
            <a:off x="8115300" y="2324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B236F7-C2B3-46B2-BEF7-12D8B1005D9B}"/>
              </a:ext>
            </a:extLst>
          </p:cNvPr>
          <p:cNvSpPr>
            <a:spLocks noGrp="1"/>
          </p:cNvSpPr>
          <p:nvPr/>
        </p:nvSpPr>
        <p:spPr>
          <a:xfrm>
            <a:off x="8324850" y="2324100"/>
            <a:ext cx="2171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一个杂活例子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C01016-78BF-4D6E-B2AD-F6E42F6AE14C}"/>
              </a:ext>
            </a:extLst>
          </p:cNvPr>
          <p:cNvSpPr>
            <a:spLocks noGrp="1"/>
          </p:cNvSpPr>
          <p:nvPr/>
        </p:nvSpPr>
        <p:spPr>
          <a:xfrm>
            <a:off x="8115300" y="28956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1ECF7E-A300-46F2-AE6C-76E00D493DF3}"/>
              </a:ext>
            </a:extLst>
          </p:cNvPr>
          <p:cNvSpPr>
            <a:spLocks noGrp="1"/>
          </p:cNvSpPr>
          <p:nvPr/>
        </p:nvSpPr>
        <p:spPr>
          <a:xfrm>
            <a:off x="8324850" y="2895600"/>
            <a:ext cx="2171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为什么它值得做成系统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EEB2B92-FD4E-42E5-B26C-F258F38F7D50}"/>
              </a:ext>
            </a:extLst>
          </p:cNvPr>
          <p:cNvSpPr>
            <a:spLocks noGrp="1"/>
          </p:cNvSpPr>
          <p:nvPr/>
        </p:nvSpPr>
        <p:spPr>
          <a:xfrm>
            <a:off x="8115300" y="3467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274CBB-746E-4612-BD08-DA3ED24A4263}"/>
              </a:ext>
            </a:extLst>
          </p:cNvPr>
          <p:cNvSpPr>
            <a:spLocks noGrp="1"/>
          </p:cNvSpPr>
          <p:nvPr/>
        </p:nvSpPr>
        <p:spPr>
          <a:xfrm>
            <a:off x="8324850" y="3467100"/>
            <a:ext cx="2171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终局长什么样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193CBF-6BD3-4273-8DBB-5429484EFA25}"/>
              </a:ext>
            </a:extLst>
          </p:cNvPr>
          <p:cNvSpPr>
            <a:spLocks noGrp="1"/>
          </p:cNvSpPr>
          <p:nvPr/>
        </p:nvSpPr>
        <p:spPr>
          <a:xfrm>
            <a:off x="8115300" y="40386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891BA36-F292-4FCA-BB38-A1DC9A05E33F}"/>
              </a:ext>
            </a:extLst>
          </p:cNvPr>
          <p:cNvSpPr>
            <a:spLocks noGrp="1"/>
          </p:cNvSpPr>
          <p:nvPr/>
        </p:nvSpPr>
        <p:spPr>
          <a:xfrm>
            <a:off x="8324850" y="4038600"/>
            <a:ext cx="2171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技术栈和预期效果</a:t>
            </a:r>
          </a:p>
        </p:txBody>
      </p:sp>
    </p:spTree>
    <p:extLst>
      <p:ext uri="{BB962C8B-B14F-4D97-AF65-F5344CB8AC3E}">
        <p14:creationId xmlns:p14="http://schemas.microsoft.com/office/powerpoint/2010/main" val="1358465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9D19853A-7D19-4E3F-96EA-5AC8FA641C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6A1B"/>
          </a:solidFill>
          <a:ln w="0">
            <a:solidFill>
              <a:srgbClr val="C96A1B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922452C-9791-454A-9B79-72A9D362E880}"/>
              </a:ext>
            </a:extLst>
          </p:cNvPr>
          <p:cNvSpPr>
            <a:spLocks noGrp="1"/>
          </p:cNvSpPr>
          <p:nvPr/>
        </p:nvSpPr>
        <p:spPr>
          <a:xfrm>
            <a:off x="9601200" y="-1619250"/>
            <a:ext cx="3714750" cy="3714750"/>
          </a:xfrm>
          <a:prstGeom prst="ellipse">
            <a:avLst/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D5C5D27-07DE-45DB-9E0A-E9574D6D145D}"/>
              </a:ext>
            </a:extLst>
          </p:cNvPr>
          <p:cNvSpPr>
            <a:spLocks noGrp="1"/>
          </p:cNvSpPr>
          <p:nvPr/>
        </p:nvSpPr>
        <p:spPr>
          <a:xfrm>
            <a:off x="9906000" y="4953000"/>
            <a:ext cx="2095500" cy="2095500"/>
          </a:xfrm>
          <a:prstGeom prst="ellipse">
            <a:avLst/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386233-7079-417A-A75D-F98EBDB49BDB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light internal pre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749E40-E947-4A48-A6F8-CBC00FDE0361}"/>
              </a:ext>
            </a:extLst>
          </p:cNvPr>
          <p:cNvSpPr>
            <a:spLocks noGrp="1"/>
          </p:cNvSpPr>
          <p:nvPr/>
        </p:nvSpPr>
        <p:spPr>
          <a:xfrm>
            <a:off x="10858500" y="2286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2/8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FC2CF3-0B90-4533-B600-9FC028F8545F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先看一个大家都懂的杂活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363C57-A8F7-439C-AC8B-CF2ADF013B80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把一堆文档整理成能喂给 LLM 的 Markdown。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C0FF8C3-9888-488E-8069-F17E0BFAFBB3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3048000" cy="3352800"/>
          </a:xfrm>
          <a:prstGeom prst="roundRect">
            <a:avLst>
              <a:gd name="adj" fmla="val 7500"/>
            </a:avLst>
          </a:prstGeom>
          <a:solidFill>
            <a:srgbClr val="FFFDF8"/>
          </a:solidFill>
          <a:ln w="9525">
            <a:solidFill>
              <a:srgbClr val="D8CD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EA3E728-E699-483B-B4B4-3D58AB4F739C}"/>
              </a:ext>
            </a:extLst>
          </p:cNvPr>
          <p:cNvSpPr>
            <a:spLocks noGrp="1"/>
          </p:cNvSpPr>
          <p:nvPr/>
        </p:nvSpPr>
        <p:spPr>
          <a:xfrm>
            <a:off x="914400" y="1962150"/>
            <a:ext cx="1028700" cy="323850"/>
          </a:xfrm>
          <a:prstGeom prst="roundRect">
            <a:avLst>
              <a:gd name="adj" fmla="val 50000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7C5A64-C07E-420C-A21E-57966EB7FBF3}"/>
              </a:ext>
            </a:extLst>
          </p:cNvPr>
          <p:cNvSpPr>
            <a:spLocks noGrp="1"/>
          </p:cNvSpPr>
          <p:nvPr/>
        </p:nvSpPr>
        <p:spPr>
          <a:xfrm>
            <a:off x="1047750" y="2038350"/>
            <a:ext cx="8953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 dirty="0" err="1">
                <a:solidFill>
                  <a:srgbClr val="0F766E"/>
                </a:solidFill>
              </a:rPr>
              <a:t>真实任务开场</a:t>
            </a:r>
            <a:endParaRPr sz="900" b="1" dirty="0">
              <a:solidFill>
                <a:srgbClr val="0F766E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0A0611-0A1E-45A6-B019-365F352E1B2A}"/>
              </a:ext>
            </a:extLst>
          </p:cNvPr>
          <p:cNvSpPr>
            <a:spLocks noGrp="1"/>
          </p:cNvSpPr>
          <p:nvPr/>
        </p:nvSpPr>
        <p:spPr>
          <a:xfrm>
            <a:off x="914400" y="2457450"/>
            <a:ext cx="228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新人接手资料包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FA3688-7563-4AE3-A77F-38EAC07995B8}"/>
              </a:ext>
            </a:extLst>
          </p:cNvPr>
          <p:cNvSpPr>
            <a:spLocks noGrp="1"/>
          </p:cNvSpPr>
          <p:nvPr/>
        </p:nvSpPr>
        <p:spPr>
          <a:xfrm>
            <a:off x="914400" y="30480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1D97BD-EDDD-4199-8B35-13484F422214}"/>
              </a:ext>
            </a:extLst>
          </p:cNvPr>
          <p:cNvSpPr>
            <a:spLocks noGrp="1"/>
          </p:cNvSpPr>
          <p:nvPr/>
        </p:nvSpPr>
        <p:spPr>
          <a:xfrm>
            <a:off x="1123950" y="3048000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47 个 pdf，12 个 docx，6 个 xlsx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F3B781A-B6ED-4FD1-B95B-53F748604C0B}"/>
              </a:ext>
            </a:extLst>
          </p:cNvPr>
          <p:cNvSpPr>
            <a:spLocks noGrp="1"/>
          </p:cNvSpPr>
          <p:nvPr/>
        </p:nvSpPr>
        <p:spPr>
          <a:xfrm>
            <a:off x="914400" y="35623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68CBD0-FE57-4160-89D0-23C001598DF0}"/>
              </a:ext>
            </a:extLst>
          </p:cNvPr>
          <p:cNvSpPr>
            <a:spLocks noGrp="1"/>
          </p:cNvSpPr>
          <p:nvPr/>
        </p:nvSpPr>
        <p:spPr>
          <a:xfrm>
            <a:off x="1123950" y="3562350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图片散在子目录里，文件名一团糟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12027B2-CF64-43B7-A3EB-87C41C1578D7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D07598-9D11-4C5B-86ED-5ABAA272A35F}"/>
              </a:ext>
            </a:extLst>
          </p:cNvPr>
          <p:cNvSpPr>
            <a:spLocks noGrp="1"/>
          </p:cNvSpPr>
          <p:nvPr/>
        </p:nvSpPr>
        <p:spPr>
          <a:xfrm>
            <a:off x="1123950" y="4076700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今晚前要给 agent 一份可用 md 语料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747AD6-E30A-4B7C-87F9-57112128A87F}"/>
              </a:ext>
            </a:extLst>
          </p:cNvPr>
          <p:cNvSpPr>
            <a:spLocks noGrp="1"/>
          </p:cNvSpPr>
          <p:nvPr/>
        </p:nvSpPr>
        <p:spPr>
          <a:xfrm>
            <a:off x="3981450" y="31623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C96A1B"/>
                </a:solidFill>
              </a:defRPr>
            </a:pPr>
            <a:r>
              <a:rPr sz="255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A945F5A-70FC-4E6B-8EE1-CE6231F75046}"/>
              </a:ext>
            </a:extLst>
          </p:cNvPr>
          <p:cNvSpPr>
            <a:spLocks noGrp="1"/>
          </p:cNvSpPr>
          <p:nvPr/>
        </p:nvSpPr>
        <p:spPr>
          <a:xfrm>
            <a:off x="4743450" y="1733550"/>
            <a:ext cx="2781300" cy="3352800"/>
          </a:xfrm>
          <a:prstGeom prst="roundRect">
            <a:avLst>
              <a:gd name="adj" fmla="val 8219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B7C1CC5-8125-4F87-846B-06187E380EBD}"/>
              </a:ext>
            </a:extLst>
          </p:cNvPr>
          <p:cNvSpPr>
            <a:spLocks noGrp="1"/>
          </p:cNvSpPr>
          <p:nvPr/>
        </p:nvSpPr>
        <p:spPr>
          <a:xfrm>
            <a:off x="4972050" y="1962150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0">
            <a:solidFill>
              <a:srgbClr val="FFFDF8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424F168-556A-4DCB-BEE6-333DC2153E29}"/>
              </a:ext>
            </a:extLst>
          </p:cNvPr>
          <p:cNvSpPr>
            <a:spLocks noGrp="1"/>
          </p:cNvSpPr>
          <p:nvPr/>
        </p:nvSpPr>
        <p:spPr>
          <a:xfrm>
            <a:off x="5105400" y="2038350"/>
            <a:ext cx="104775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 dirty="0" err="1">
                <a:solidFill>
                  <a:srgbClr val="0F766E"/>
                </a:solidFill>
              </a:rPr>
              <a:t>于是开始手搓</a:t>
            </a:r>
            <a:endParaRPr sz="900" b="1" dirty="0">
              <a:solidFill>
                <a:srgbClr val="0F766E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207DEF-0026-450A-9918-CA0EF8793A25}"/>
              </a:ext>
            </a:extLst>
          </p:cNvPr>
          <p:cNvSpPr>
            <a:spLocks noGrp="1"/>
          </p:cNvSpPr>
          <p:nvPr/>
        </p:nvSpPr>
        <p:spPr>
          <a:xfrm>
            <a:off x="4972050" y="25527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490041-450D-411A-994D-1858977067C4}"/>
              </a:ext>
            </a:extLst>
          </p:cNvPr>
          <p:cNvSpPr>
            <a:spLocks noGrp="1"/>
          </p:cNvSpPr>
          <p:nvPr/>
        </p:nvSpPr>
        <p:spPr>
          <a:xfrm>
            <a:off x="5181600" y="255270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先写一个临时脚本把文件全扫一遍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A62E0B0-D9B9-4DB0-86ED-4DB85C14980F}"/>
              </a:ext>
            </a:extLst>
          </p:cNvPr>
          <p:cNvSpPr>
            <a:spLocks noGrp="1"/>
          </p:cNvSpPr>
          <p:nvPr/>
        </p:nvSpPr>
        <p:spPr>
          <a:xfrm>
            <a:off x="4972050" y="31051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DD50CC-DD99-4200-A008-FB2E9389EF40}"/>
              </a:ext>
            </a:extLst>
          </p:cNvPr>
          <p:cNvSpPr>
            <a:spLocks noGrp="1"/>
          </p:cNvSpPr>
          <p:nvPr/>
        </p:nvSpPr>
        <p:spPr>
          <a:xfrm>
            <a:off x="5181600" y="31051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pdf 和 docx 分别补分支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9B106E3-D846-42EA-93F1-B048625A7DA5}"/>
              </a:ext>
            </a:extLst>
          </p:cNvPr>
          <p:cNvSpPr>
            <a:spLocks noGrp="1"/>
          </p:cNvSpPr>
          <p:nvPr/>
        </p:nvSpPr>
        <p:spPr>
          <a:xfrm>
            <a:off x="4972050" y="36576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E7E1015-F6B6-48EA-AE63-91FE03983FE7}"/>
              </a:ext>
            </a:extLst>
          </p:cNvPr>
          <p:cNvSpPr>
            <a:spLocks noGrp="1"/>
          </p:cNvSpPr>
          <p:nvPr/>
        </p:nvSpPr>
        <p:spPr>
          <a:xfrm>
            <a:off x="5181600" y="365760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路径、图片、表格一坏就加 repair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9AB17F0-28EF-4D2F-953A-573AA5691DA8}"/>
              </a:ext>
            </a:extLst>
          </p:cNvPr>
          <p:cNvSpPr>
            <a:spLocks noGrp="1"/>
          </p:cNvSpPr>
          <p:nvPr/>
        </p:nvSpPr>
        <p:spPr>
          <a:xfrm>
            <a:off x="4972050" y="42100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1CE3353-BBEA-4D41-B5BE-BAC0BC855EB2}"/>
              </a:ext>
            </a:extLst>
          </p:cNvPr>
          <p:cNvSpPr>
            <a:spLocks noGrp="1"/>
          </p:cNvSpPr>
          <p:nvPr/>
        </p:nvSpPr>
        <p:spPr>
          <a:xfrm>
            <a:off x="5181600" y="4210050"/>
            <a:ext cx="1885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不行再 fallback 到通用库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2F6B48D-3752-4636-A4D2-23CD5076E262}"/>
              </a:ext>
            </a:extLst>
          </p:cNvPr>
          <p:cNvSpPr>
            <a:spLocks noGrp="1"/>
          </p:cNvSpPr>
          <p:nvPr/>
        </p:nvSpPr>
        <p:spPr>
          <a:xfrm>
            <a:off x="7734300" y="316230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C96A1B"/>
                </a:solidFill>
              </a:defRPr>
            </a:pPr>
            <a:r>
              <a:rPr sz="2550" b="1">
                <a:solidFill>
                  <a:srgbClr val="C96A1B"/>
                </a:solidFill>
              </a:rPr>
              <a:t>→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6A170619-098A-4AC5-8B20-C39963AEBBD0}"/>
              </a:ext>
            </a:extLst>
          </p:cNvPr>
          <p:cNvSpPr>
            <a:spLocks noGrp="1"/>
          </p:cNvSpPr>
          <p:nvPr/>
        </p:nvSpPr>
        <p:spPr>
          <a:xfrm>
            <a:off x="8496300" y="1733550"/>
            <a:ext cx="2743200" cy="3352800"/>
          </a:xfrm>
          <a:prstGeom prst="roundRect">
            <a:avLst>
              <a:gd name="adj" fmla="val 8333"/>
            </a:avLst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8C4CB42-C866-46EA-8E5E-5F15ADD1C760}"/>
              </a:ext>
            </a:extLst>
          </p:cNvPr>
          <p:cNvSpPr>
            <a:spLocks noGrp="1"/>
          </p:cNvSpPr>
          <p:nvPr/>
        </p:nvSpPr>
        <p:spPr>
          <a:xfrm>
            <a:off x="8724900" y="1962150"/>
            <a:ext cx="704850" cy="3238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0">
            <a:solidFill>
              <a:srgbClr val="FFFDF8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4383C6B-FEDE-4861-9FFB-A7B88F0C5129}"/>
              </a:ext>
            </a:extLst>
          </p:cNvPr>
          <p:cNvSpPr>
            <a:spLocks noGrp="1"/>
          </p:cNvSpPr>
          <p:nvPr/>
        </p:nvSpPr>
        <p:spPr>
          <a:xfrm>
            <a:off x="8858250" y="2038350"/>
            <a:ext cx="590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6A1B"/>
                </a:solidFill>
              </a:defRPr>
            </a:pPr>
            <a:r>
              <a:rPr sz="900" b="1" dirty="0" err="1">
                <a:solidFill>
                  <a:srgbClr val="C96A1B"/>
                </a:solidFill>
              </a:rPr>
              <a:t>一周后</a:t>
            </a:r>
            <a:endParaRPr sz="900" b="1" dirty="0">
              <a:solidFill>
                <a:srgbClr val="C96A1B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4D57E4C-1E30-4926-B4BF-762CC2A67C04}"/>
              </a:ext>
            </a:extLst>
          </p:cNvPr>
          <p:cNvSpPr>
            <a:spLocks noGrp="1"/>
          </p:cNvSpPr>
          <p:nvPr/>
        </p:nvSpPr>
        <p:spPr>
          <a:xfrm>
            <a:off x="8724900" y="25527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D8AA578-820B-4FEF-8295-FEE80645040F}"/>
              </a:ext>
            </a:extLst>
          </p:cNvPr>
          <p:cNvSpPr>
            <a:spLocks noGrp="1"/>
          </p:cNvSpPr>
          <p:nvPr/>
        </p:nvSpPr>
        <p:spPr>
          <a:xfrm>
            <a:off x="8934450" y="2552700"/>
            <a:ext cx="1828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脚本还在，但只有自己看得懂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AF7A49F-A30A-4142-BF43-2627E7066A55}"/>
              </a:ext>
            </a:extLst>
          </p:cNvPr>
          <p:cNvSpPr>
            <a:spLocks noGrp="1"/>
          </p:cNvSpPr>
          <p:nvPr/>
        </p:nvSpPr>
        <p:spPr>
          <a:xfrm>
            <a:off x="8724900" y="31623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0BFC43-17A6-4D05-9962-B104409A001D}"/>
              </a:ext>
            </a:extLst>
          </p:cNvPr>
          <p:cNvSpPr>
            <a:spLocks noGrp="1"/>
          </p:cNvSpPr>
          <p:nvPr/>
        </p:nvSpPr>
        <p:spPr>
          <a:xfrm>
            <a:off x="8934450" y="3162300"/>
            <a:ext cx="1828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别人接手还是会从头再搓一版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865CF66-A313-4D1C-8ED7-DA36F52D4D4C}"/>
              </a:ext>
            </a:extLst>
          </p:cNvPr>
          <p:cNvSpPr>
            <a:spLocks noGrp="1"/>
          </p:cNvSpPr>
          <p:nvPr/>
        </p:nvSpPr>
        <p:spPr>
          <a:xfrm>
            <a:off x="8724900" y="37719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63C2DBD-CBC8-492F-BC07-0B70CBD78952}"/>
              </a:ext>
            </a:extLst>
          </p:cNvPr>
          <p:cNvSpPr>
            <a:spLocks noGrp="1"/>
          </p:cNvSpPr>
          <p:nvPr/>
        </p:nvSpPr>
        <p:spPr>
          <a:xfrm>
            <a:off x="8934450" y="3771900"/>
            <a:ext cx="1828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agent 下次遇到类似任务，也继续假装第一次见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819F5AD-130C-4E60-BD2F-78BB053F93DE}"/>
              </a:ext>
            </a:extLst>
          </p:cNvPr>
          <p:cNvSpPr>
            <a:spLocks noGrp="1"/>
          </p:cNvSpPr>
          <p:nvPr/>
        </p:nvSpPr>
        <p:spPr>
          <a:xfrm>
            <a:off x="685800" y="5448300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A1B"/>
                </a:solidFill>
              </a:defRPr>
            </a:pPr>
            <a:r>
              <a:rPr sz="1500" b="1">
                <a:solidFill>
                  <a:srgbClr val="C96A1B"/>
                </a:solidFill>
              </a:rPr>
              <a:t>这就是蒸馏器瞄准的目标：不是把文档转成 md，而是把“这套做法”留下来。</a:t>
            </a:r>
          </a:p>
        </p:txBody>
      </p:sp>
    </p:spTree>
    <p:extLst>
      <p:ext uri="{BB962C8B-B14F-4D97-AF65-F5344CB8AC3E}">
        <p14:creationId xmlns:p14="http://schemas.microsoft.com/office/powerpoint/2010/main" val="1523385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C051772-9EAD-477A-9C46-4F723E89D1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6A1B"/>
          </a:solidFill>
          <a:ln w="0">
            <a:solidFill>
              <a:srgbClr val="C96A1B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BABFC514-6528-49CC-9A39-9EDABBFF0980}"/>
              </a:ext>
            </a:extLst>
          </p:cNvPr>
          <p:cNvSpPr>
            <a:spLocks noGrp="1"/>
          </p:cNvSpPr>
          <p:nvPr/>
        </p:nvSpPr>
        <p:spPr>
          <a:xfrm>
            <a:off x="9601200" y="-1619250"/>
            <a:ext cx="3714750" cy="3714750"/>
          </a:xfrm>
          <a:prstGeom prst="ellipse">
            <a:avLst/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2E67E12-B6FE-45E2-9E9D-EAF5AAB58DA3}"/>
              </a:ext>
            </a:extLst>
          </p:cNvPr>
          <p:cNvSpPr>
            <a:spLocks noGrp="1"/>
          </p:cNvSpPr>
          <p:nvPr/>
        </p:nvSpPr>
        <p:spPr>
          <a:xfrm>
            <a:off x="9906000" y="4953000"/>
            <a:ext cx="2095500" cy="2095500"/>
          </a:xfrm>
          <a:prstGeom prst="ellipse">
            <a:avLst/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355FE5-FBF9-4CE9-81D2-85842B5CAD83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light internal pre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8BFE217-3C7F-4C76-88CA-5225A0A77B0D}"/>
              </a:ext>
            </a:extLst>
          </p:cNvPr>
          <p:cNvSpPr>
            <a:spLocks noGrp="1"/>
          </p:cNvSpPr>
          <p:nvPr/>
        </p:nvSpPr>
        <p:spPr>
          <a:xfrm>
            <a:off x="10858500" y="2286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3/8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4DCA70-A577-459E-9906-9705E1AB80C2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为什么非做不可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0B27FE5-B8B2-420A-85FD-03EC94167A63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因为这种杂活不是没人会做，而是永远没人真正记住怎么做。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10B9023-3082-4F10-8A4B-C3EB6B9ACFFE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048000" cy="2495550"/>
          </a:xfrm>
          <a:prstGeom prst="roundRect">
            <a:avLst>
              <a:gd name="adj" fmla="val 9160"/>
            </a:avLst>
          </a:prstGeom>
          <a:solidFill>
            <a:srgbClr val="FFFDF8"/>
          </a:solidFill>
          <a:ln w="9525">
            <a:solidFill>
              <a:srgbClr val="D8CD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2A1667E-1862-43FC-9BF3-AF2EC4DB64AB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C96A1B"/>
                </a:solidFill>
              </a:defRPr>
            </a:pPr>
            <a:r>
              <a:rPr sz="1650" b="1">
                <a:solidFill>
                  <a:srgbClr val="C96A1B"/>
                </a:solidFill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F66A24D-60E3-4C3D-9232-F9CF225C6E77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写过，但找不到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D4DC02-63EE-470A-9301-21CBEBCE8339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238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7534E"/>
                </a:solidFill>
              </a:defRPr>
            </a:pPr>
            <a:r>
              <a:rPr sz="1425" b="0">
                <a:solidFill>
                  <a:srgbClr val="57534E"/>
                </a:solidFill>
              </a:rPr>
              <a:t>临时脚本和补丁常常只活在某次会话或某个临时目录里。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5AA937B-D916-4EC8-B60A-99A41E2935FD}"/>
              </a:ext>
            </a:extLst>
          </p:cNvPr>
          <p:cNvSpPr>
            <a:spLocks noGrp="1"/>
          </p:cNvSpPr>
          <p:nvPr/>
        </p:nvSpPr>
        <p:spPr>
          <a:xfrm>
            <a:off x="4114800" y="2133600"/>
            <a:ext cx="3048000" cy="2495550"/>
          </a:xfrm>
          <a:prstGeom prst="roundRect">
            <a:avLst>
              <a:gd name="adj" fmla="val 9160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5A04C3-8F08-4B37-82FD-0C7F6DE3F06A}"/>
              </a:ext>
            </a:extLst>
          </p:cNvPr>
          <p:cNvSpPr>
            <a:spLocks noGrp="1"/>
          </p:cNvSpPr>
          <p:nvPr/>
        </p:nvSpPr>
        <p:spPr>
          <a:xfrm>
            <a:off x="4343400" y="23431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C96A1B"/>
                </a:solidFill>
              </a:defRPr>
            </a:pPr>
            <a:r>
              <a:rPr sz="1650" b="1">
                <a:solidFill>
                  <a:srgbClr val="C96A1B"/>
                </a:solidFill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1E03B1-780B-40F3-A883-1A92CAA361CA}"/>
              </a:ext>
            </a:extLst>
          </p:cNvPr>
          <p:cNvSpPr>
            <a:spLocks noGrp="1"/>
          </p:cNvSpPr>
          <p:nvPr/>
        </p:nvSpPr>
        <p:spPr>
          <a:xfrm>
            <a:off x="4343400" y="2762250"/>
            <a:ext cx="249985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 dirty="0" err="1">
                <a:solidFill>
                  <a:srgbClr val="171717"/>
                </a:solidFill>
              </a:rPr>
              <a:t>交结果，不交手法</a:t>
            </a:r>
            <a:endParaRPr sz="2100" b="1" dirty="0">
              <a:solidFill>
                <a:srgbClr val="171717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A67634-8131-41C1-BB40-22D78D97339A}"/>
              </a:ext>
            </a:extLst>
          </p:cNvPr>
          <p:cNvSpPr>
            <a:spLocks noGrp="1"/>
          </p:cNvSpPr>
          <p:nvPr/>
        </p:nvSpPr>
        <p:spPr>
          <a:xfrm>
            <a:off x="4343400" y="3390900"/>
            <a:ext cx="238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7534E"/>
                </a:solidFill>
              </a:defRPr>
            </a:pPr>
            <a:r>
              <a:rPr sz="1425" b="0">
                <a:solidFill>
                  <a:srgbClr val="57534E"/>
                </a:solidFill>
              </a:rPr>
              <a:t>新人拿到的是一份 md，拿不到为什么这么切分、坏了怎么回退。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E24DA51-D193-4982-B7C1-72B5FFF8FE82}"/>
              </a:ext>
            </a:extLst>
          </p:cNvPr>
          <p:cNvSpPr>
            <a:spLocks noGrp="1"/>
          </p:cNvSpPr>
          <p:nvPr/>
        </p:nvSpPr>
        <p:spPr>
          <a:xfrm>
            <a:off x="7543800" y="2133600"/>
            <a:ext cx="3048000" cy="2495550"/>
          </a:xfrm>
          <a:prstGeom prst="roundRect">
            <a:avLst>
              <a:gd name="adj" fmla="val 9160"/>
            </a:avLst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095DE5-8FBC-4244-A69E-3F028218B236}"/>
              </a:ext>
            </a:extLst>
          </p:cNvPr>
          <p:cNvSpPr>
            <a:spLocks noGrp="1"/>
          </p:cNvSpPr>
          <p:nvPr/>
        </p:nvSpPr>
        <p:spPr>
          <a:xfrm>
            <a:off x="7772400" y="23431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C96A1B"/>
                </a:solidFill>
              </a:defRPr>
            </a:pPr>
            <a:r>
              <a:rPr sz="1650" b="1">
                <a:solidFill>
                  <a:srgbClr val="C96A1B"/>
                </a:solidFill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F35D35-A507-41E6-9FCB-19F99531CF4A}"/>
              </a:ext>
            </a:extLst>
          </p:cNvPr>
          <p:cNvSpPr>
            <a:spLocks noGrp="1"/>
          </p:cNvSpPr>
          <p:nvPr/>
        </p:nvSpPr>
        <p:spPr>
          <a:xfrm>
            <a:off x="7772400" y="27622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agent 每次从零假装聪明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0F6474-6E2F-47E2-84CD-F566B4CCB032}"/>
              </a:ext>
            </a:extLst>
          </p:cNvPr>
          <p:cNvSpPr>
            <a:spLocks noGrp="1"/>
          </p:cNvSpPr>
          <p:nvPr/>
        </p:nvSpPr>
        <p:spPr>
          <a:xfrm>
            <a:off x="7772400" y="3390900"/>
            <a:ext cx="2381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57534E"/>
                </a:solidFill>
              </a:defRPr>
            </a:pPr>
            <a:r>
              <a:rPr sz="1425" b="0">
                <a:solidFill>
                  <a:srgbClr val="57534E"/>
                </a:solidFill>
              </a:rPr>
              <a:t>没有 reuse-before-create，就只能继续重写同类工具。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725E530-939E-4C0D-9E25-92117C0B19A5}"/>
              </a:ext>
            </a:extLst>
          </p:cNvPr>
          <p:cNvSpPr>
            <a:spLocks noGrp="1"/>
          </p:cNvSpPr>
          <p:nvPr/>
        </p:nvSpPr>
        <p:spPr>
          <a:xfrm>
            <a:off x="685800" y="5181600"/>
            <a:ext cx="10096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说白了，蒸馏器要保存的不是“代码文件”，而是踩坑踩出来的判断、分支、fallback 和伤疤。</a:t>
            </a:r>
          </a:p>
        </p:txBody>
      </p:sp>
    </p:spTree>
    <p:extLst>
      <p:ext uri="{BB962C8B-B14F-4D97-AF65-F5344CB8AC3E}">
        <p14:creationId xmlns:p14="http://schemas.microsoft.com/office/powerpoint/2010/main" val="4211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45BC201B-C16C-49B8-9264-537EF67BCF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6A1B"/>
          </a:solidFill>
          <a:ln w="0">
            <a:solidFill>
              <a:srgbClr val="C96A1B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D675AC23-9BE5-408D-8C2B-F98CE8618615}"/>
              </a:ext>
            </a:extLst>
          </p:cNvPr>
          <p:cNvSpPr>
            <a:spLocks noGrp="1"/>
          </p:cNvSpPr>
          <p:nvPr/>
        </p:nvSpPr>
        <p:spPr>
          <a:xfrm>
            <a:off x="9601200" y="-1619250"/>
            <a:ext cx="3714750" cy="3714750"/>
          </a:xfrm>
          <a:prstGeom prst="ellipse">
            <a:avLst/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8DE239A-1FC2-431A-85BD-6155AAC037E0}"/>
              </a:ext>
            </a:extLst>
          </p:cNvPr>
          <p:cNvSpPr>
            <a:spLocks noGrp="1"/>
          </p:cNvSpPr>
          <p:nvPr/>
        </p:nvSpPr>
        <p:spPr>
          <a:xfrm>
            <a:off x="9906000" y="4953000"/>
            <a:ext cx="2095500" cy="2095500"/>
          </a:xfrm>
          <a:prstGeom prst="ellipse">
            <a:avLst/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D1072F-9277-4CDC-B78C-F57326D160A0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light internal pre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B07594-3E6D-4880-93C2-854E4A1FAB97}"/>
              </a:ext>
            </a:extLst>
          </p:cNvPr>
          <p:cNvSpPr>
            <a:spLocks noGrp="1"/>
          </p:cNvSpPr>
          <p:nvPr/>
        </p:nvSpPr>
        <p:spPr>
          <a:xfrm>
            <a:off x="10858500" y="2286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4/8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C14642-D22C-4387-AB70-E807DE9F35F7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它真正做的事其实很朴素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23BAA71-07AE-4AF7-8CF1-CFA84980C022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先看见重复，再抽成候选，再验证，最后在下次任务前把成熟做法递回来。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E433D29-C9AC-4B8C-832B-EF7097A41581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2266950" cy="1695450"/>
          </a:xfrm>
          <a:prstGeom prst="roundRect">
            <a:avLst>
              <a:gd name="adj" fmla="val 13483"/>
            </a:avLst>
          </a:prstGeom>
          <a:solidFill>
            <a:srgbClr val="FFFDF8"/>
          </a:solidFill>
          <a:ln w="9525">
            <a:solidFill>
              <a:srgbClr val="D8CD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108874-70F6-4E06-9F93-DD3996B9E8B1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A1B"/>
                </a:solidFill>
              </a:defRPr>
            </a:pPr>
            <a:r>
              <a:rPr sz="1500" b="1">
                <a:solidFill>
                  <a:srgbClr val="C96A1B"/>
                </a:solidFill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EA3182-A546-4071-B213-DA95FB50B30D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看到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972777-E398-4CE7-963D-5252E887553B}"/>
              </a:ext>
            </a:extLst>
          </p:cNvPr>
          <p:cNvSpPr>
            <a:spLocks noGrp="1"/>
          </p:cNvSpPr>
          <p:nvPr/>
        </p:nvSpPr>
        <p:spPr>
          <a:xfrm>
            <a:off x="876300" y="3162300"/>
            <a:ext cx="179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从真实工作里看到反复出现的脚本和 repair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FD11225-2432-43D5-A941-5A96BB6D3F96}"/>
              </a:ext>
            </a:extLst>
          </p:cNvPr>
          <p:cNvSpPr>
            <a:spLocks noGrp="1"/>
          </p:cNvSpPr>
          <p:nvPr/>
        </p:nvSpPr>
        <p:spPr>
          <a:xfrm>
            <a:off x="3238500" y="2038350"/>
            <a:ext cx="2266950" cy="1695450"/>
          </a:xfrm>
          <a:prstGeom prst="roundRect">
            <a:avLst>
              <a:gd name="adj" fmla="val 13483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FF5EB5-1374-44A5-81AF-510DCC3E606F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A1B"/>
                </a:solidFill>
              </a:defRPr>
            </a:pPr>
            <a:r>
              <a:rPr sz="1500" b="1">
                <a:solidFill>
                  <a:srgbClr val="C96A1B"/>
                </a:solidFill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44BFCE-2129-44F1-93BD-0ADBE6DB6840}"/>
              </a:ext>
            </a:extLst>
          </p:cNvPr>
          <p:cNvSpPr>
            <a:spLocks noGrp="1"/>
          </p:cNvSpPr>
          <p:nvPr/>
        </p:nvSpPr>
        <p:spPr>
          <a:xfrm>
            <a:off x="3429000" y="2667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抽出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35C5D5-ABB7-42D8-BEA8-2D3D19A7D1B4}"/>
              </a:ext>
            </a:extLst>
          </p:cNvPr>
          <p:cNvSpPr>
            <a:spLocks noGrp="1"/>
          </p:cNvSpPr>
          <p:nvPr/>
        </p:nvSpPr>
        <p:spPr>
          <a:xfrm>
            <a:off x="3429000" y="3162300"/>
            <a:ext cx="179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把它们按“目的 / 契约 / 分支”组织成候选能力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20858E2-EC8C-418C-8608-041F08F0D4B0}"/>
              </a:ext>
            </a:extLst>
          </p:cNvPr>
          <p:cNvSpPr>
            <a:spLocks noGrp="1"/>
          </p:cNvSpPr>
          <p:nvPr/>
        </p:nvSpPr>
        <p:spPr>
          <a:xfrm>
            <a:off x="5791200" y="2038350"/>
            <a:ext cx="2266950" cy="1695450"/>
          </a:xfrm>
          <a:prstGeom prst="roundRect">
            <a:avLst>
              <a:gd name="adj" fmla="val 13483"/>
            </a:avLst>
          </a:prstGeom>
          <a:solidFill>
            <a:srgbClr val="FFFDF8"/>
          </a:solidFill>
          <a:ln w="9525">
            <a:solidFill>
              <a:srgbClr val="D8CD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793A230-BA13-4F97-9CC6-5F1BFDF37A8D}"/>
              </a:ext>
            </a:extLst>
          </p:cNvPr>
          <p:cNvSpPr>
            <a:spLocks noGrp="1"/>
          </p:cNvSpPr>
          <p:nvPr/>
        </p:nvSpPr>
        <p:spPr>
          <a:xfrm>
            <a:off x="5981700" y="22669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A1B"/>
                </a:solidFill>
              </a:defRPr>
            </a:pPr>
            <a:r>
              <a:rPr sz="1500" b="1">
                <a:solidFill>
                  <a:srgbClr val="C96A1B"/>
                </a:solidFill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7A44DC-80C1-4010-851B-DB4687E25F06}"/>
              </a:ext>
            </a:extLst>
          </p:cNvPr>
          <p:cNvSpPr>
            <a:spLocks noGrp="1"/>
          </p:cNvSpPr>
          <p:nvPr/>
        </p:nvSpPr>
        <p:spPr>
          <a:xfrm>
            <a:off x="5981700" y="2667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验证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B04849-54D8-4EA2-9950-CFFBE39576AA}"/>
              </a:ext>
            </a:extLst>
          </p:cNvPr>
          <p:cNvSpPr>
            <a:spLocks noGrp="1"/>
          </p:cNvSpPr>
          <p:nvPr/>
        </p:nvSpPr>
        <p:spPr>
          <a:xfrm>
            <a:off x="5981700" y="3162300"/>
            <a:ext cx="179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跑 Replay、Output Gate、Contract，而不是只看它能不能运行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6101CC8-9AD8-4A27-A911-DD842FD1A576}"/>
              </a:ext>
            </a:extLst>
          </p:cNvPr>
          <p:cNvSpPr>
            <a:spLocks noGrp="1"/>
          </p:cNvSpPr>
          <p:nvPr/>
        </p:nvSpPr>
        <p:spPr>
          <a:xfrm>
            <a:off x="8343900" y="2038350"/>
            <a:ext cx="2266950" cy="1695450"/>
          </a:xfrm>
          <a:prstGeom prst="roundRect">
            <a:avLst>
              <a:gd name="adj" fmla="val 13483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82AD939-6B0F-47DD-9777-BFA8CCEB0D97}"/>
              </a:ext>
            </a:extLst>
          </p:cNvPr>
          <p:cNvSpPr>
            <a:spLocks noGrp="1"/>
          </p:cNvSpPr>
          <p:nvPr/>
        </p:nvSpPr>
        <p:spPr>
          <a:xfrm>
            <a:off x="8534400" y="22669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A1B"/>
                </a:solidFill>
              </a:defRPr>
            </a:pPr>
            <a:r>
              <a:rPr sz="1500" b="1">
                <a:solidFill>
                  <a:srgbClr val="C96A1B"/>
                </a:solidFill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A954A0C-4B19-4342-BDD3-513BC9852328}"/>
              </a:ext>
            </a:extLst>
          </p:cNvPr>
          <p:cNvSpPr>
            <a:spLocks noGrp="1"/>
          </p:cNvSpPr>
          <p:nvPr/>
        </p:nvSpPr>
        <p:spPr>
          <a:xfrm>
            <a:off x="8534400" y="26670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</a:rPr>
              <a:t>回灌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CCFF2A-DA97-46F7-9F5E-9DF61646B18F}"/>
              </a:ext>
            </a:extLst>
          </p:cNvPr>
          <p:cNvSpPr>
            <a:spLocks noGrp="1"/>
          </p:cNvSpPr>
          <p:nvPr/>
        </p:nvSpPr>
        <p:spPr>
          <a:xfrm>
            <a:off x="8534400" y="3162300"/>
            <a:ext cx="1790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7534E"/>
                </a:solidFill>
              </a:defRPr>
            </a:pPr>
            <a:r>
              <a:rPr sz="1275" b="0">
                <a:solidFill>
                  <a:srgbClr val="57534E"/>
                </a:solidFill>
              </a:rPr>
              <a:t>下次同类任务先把现成能力拿出来，再决定要不要重写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9D09DEB-785D-4B1B-8219-D32890059CB5}"/>
              </a:ext>
            </a:extLst>
          </p:cNvPr>
          <p:cNvSpPr>
            <a:spLocks noGrp="1"/>
          </p:cNvSpPr>
          <p:nvPr/>
        </p:nvSpPr>
        <p:spPr>
          <a:xfrm>
            <a:off x="1123950" y="4400550"/>
            <a:ext cx="9906000" cy="781050"/>
          </a:xfrm>
          <a:prstGeom prst="roundRect">
            <a:avLst>
              <a:gd name="adj" fmla="val 29268"/>
            </a:avLst>
          </a:prstGeom>
          <a:solidFill>
            <a:srgbClr val="24211D"/>
          </a:solidFill>
          <a:ln w="0">
            <a:solidFill>
              <a:srgbClr val="2421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0C47625-F6DA-4376-8D5D-3EC1B1E6D492}"/>
              </a:ext>
            </a:extLst>
          </p:cNvPr>
          <p:cNvSpPr>
            <a:spLocks noGrp="1"/>
          </p:cNvSpPr>
          <p:nvPr/>
        </p:nvSpPr>
        <p:spPr>
          <a:xfrm>
            <a:off x="1428750" y="4591050"/>
            <a:ext cx="925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用 `doc2md` 这件事来讲，就是：别把它拆成一堆小工具，而是让它长成一个“文档转 markdown”的成熟能力，里面保留 pdf / docx / xlsx / fallback 等分支和伤疤。</a:t>
            </a:r>
          </a:p>
        </p:txBody>
      </p:sp>
    </p:spTree>
    <p:extLst>
      <p:ext uri="{BB962C8B-B14F-4D97-AF65-F5344CB8AC3E}">
        <p14:creationId xmlns:p14="http://schemas.microsoft.com/office/powerpoint/2010/main" val="213640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4E8EF8B7-EA52-46C2-BA9E-378F51EDFD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6A1B"/>
          </a:solidFill>
          <a:ln w="0">
            <a:solidFill>
              <a:srgbClr val="C96A1B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4607BFF-711C-452F-AC87-9766469858F7}"/>
              </a:ext>
            </a:extLst>
          </p:cNvPr>
          <p:cNvSpPr>
            <a:spLocks noGrp="1"/>
          </p:cNvSpPr>
          <p:nvPr/>
        </p:nvSpPr>
        <p:spPr>
          <a:xfrm>
            <a:off x="9601200" y="-1619250"/>
            <a:ext cx="3714750" cy="3714750"/>
          </a:xfrm>
          <a:prstGeom prst="ellipse">
            <a:avLst/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BE07415B-6708-4793-BF16-A868F0CB6330}"/>
              </a:ext>
            </a:extLst>
          </p:cNvPr>
          <p:cNvSpPr>
            <a:spLocks noGrp="1"/>
          </p:cNvSpPr>
          <p:nvPr/>
        </p:nvSpPr>
        <p:spPr>
          <a:xfrm>
            <a:off x="9906000" y="4953000"/>
            <a:ext cx="2095500" cy="2095500"/>
          </a:xfrm>
          <a:prstGeom prst="ellipse">
            <a:avLst/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D128866-5B97-4D96-9477-1D1FE177C153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light internal pre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CADEDE-4EB8-482F-BD52-15DCBFEC609F}"/>
              </a:ext>
            </a:extLst>
          </p:cNvPr>
          <p:cNvSpPr>
            <a:spLocks noGrp="1"/>
          </p:cNvSpPr>
          <p:nvPr/>
        </p:nvSpPr>
        <p:spPr>
          <a:xfrm>
            <a:off x="10858500" y="2286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5/8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3E6591-02F6-4D15-B6E4-2C116E510ED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愿景：终局不是个人外挂，而是项目组熟路网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1CA6E9-3128-4050-8BED-7CDAA92A00B1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同一套引擎先帮一个人，最后服务整个项目组。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CA9897D-B3C0-4EE0-8059-2EEF3833032C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3238500" cy="3200400"/>
          </a:xfrm>
          <a:prstGeom prst="roundRect">
            <a:avLst>
              <a:gd name="adj" fmla="val 7143"/>
            </a:avLst>
          </a:prstGeom>
          <a:solidFill>
            <a:srgbClr val="FFFDF8"/>
          </a:solidFill>
          <a:ln w="9525">
            <a:solidFill>
              <a:srgbClr val="D8CD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952132A-6391-4DAB-9766-319520EE66D3}"/>
              </a:ext>
            </a:extLst>
          </p:cNvPr>
          <p:cNvSpPr>
            <a:spLocks noGrp="1"/>
          </p:cNvSpPr>
          <p:nvPr/>
        </p:nvSpPr>
        <p:spPr>
          <a:xfrm>
            <a:off x="914400" y="22098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EDE4D7"/>
          </a:solidFill>
          <a:ln w="0">
            <a:solidFill>
              <a:srgbClr val="EDE4D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1EAA46-9FFE-40A8-AD59-1F4695ABC347}"/>
              </a:ext>
            </a:extLst>
          </p:cNvPr>
          <p:cNvSpPr>
            <a:spLocks noGrp="1"/>
          </p:cNvSpPr>
          <p:nvPr/>
        </p:nvSpPr>
        <p:spPr>
          <a:xfrm>
            <a:off x="1047750" y="22860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先帮自己少重写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634892-9EBF-49B8-BFB5-64335F23986F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个人模式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7FFD00-A073-4532-ACC8-E858F4D09600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D6E049-88EE-4689-9B2E-CC7E0CF0EC92}"/>
              </a:ext>
            </a:extLst>
          </p:cNvPr>
          <p:cNvSpPr>
            <a:spLocks noGrp="1"/>
          </p:cNvSpPr>
          <p:nvPr/>
        </p:nvSpPr>
        <p:spPr>
          <a:xfrm>
            <a:off x="1123950" y="333375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先跑一个目的：文档转 markdown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1FB69B-FE58-4184-B6A1-5E15DA6F3FFD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7388E2-4257-43DA-92A8-524CF06394DF}"/>
              </a:ext>
            </a:extLst>
          </p:cNvPr>
          <p:cNvSpPr>
            <a:spLocks noGrp="1"/>
          </p:cNvSpPr>
          <p:nvPr/>
        </p:nvSpPr>
        <p:spPr>
          <a:xfrm>
            <a:off x="1123950" y="388620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优先无感、低摩擦、立刻见效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F5035F-9724-4DC9-A384-6116C1BB005C}"/>
              </a:ext>
            </a:extLst>
          </p:cNvPr>
          <p:cNvSpPr>
            <a:spLocks noGrp="1"/>
          </p:cNvSpPr>
          <p:nvPr/>
        </p:nvSpPr>
        <p:spPr>
          <a:xfrm>
            <a:off x="914400" y="44386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C4F58E-CFAA-4D6E-9F4C-147AAB8DDCC8}"/>
              </a:ext>
            </a:extLst>
          </p:cNvPr>
          <p:cNvSpPr>
            <a:spLocks noGrp="1"/>
          </p:cNvSpPr>
          <p:nvPr/>
        </p:nvSpPr>
        <p:spPr>
          <a:xfrm>
            <a:off x="1123950" y="443865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候选能力先服务自己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44EE4F3-DDB0-4120-BDC3-965935B7C0BD}"/>
              </a:ext>
            </a:extLst>
          </p:cNvPr>
          <p:cNvSpPr>
            <a:spLocks noGrp="1"/>
          </p:cNvSpPr>
          <p:nvPr/>
        </p:nvSpPr>
        <p:spPr>
          <a:xfrm>
            <a:off x="4305300" y="1981200"/>
            <a:ext cx="3238500" cy="3200400"/>
          </a:xfrm>
          <a:prstGeom prst="roundRect">
            <a:avLst>
              <a:gd name="adj" fmla="val 7143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3ADA6A5-7F0B-41D5-B2EB-E4D304957AAB}"/>
              </a:ext>
            </a:extLst>
          </p:cNvPr>
          <p:cNvSpPr>
            <a:spLocks noGrp="1"/>
          </p:cNvSpPr>
          <p:nvPr/>
        </p:nvSpPr>
        <p:spPr>
          <a:xfrm>
            <a:off x="4533900" y="22098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0">
            <a:solidFill>
              <a:srgbClr val="FFFDF8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E1CC22-598E-4608-B02A-E2FE7EC1EF86}"/>
              </a:ext>
            </a:extLst>
          </p:cNvPr>
          <p:cNvSpPr>
            <a:spLocks noGrp="1"/>
          </p:cNvSpPr>
          <p:nvPr/>
        </p:nvSpPr>
        <p:spPr>
          <a:xfrm>
            <a:off x="4667250" y="2286000"/>
            <a:ext cx="1066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开始跨人复用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AC87701-1DA1-4CAC-BAF0-6C4780E443C0}"/>
              </a:ext>
            </a:extLst>
          </p:cNvPr>
          <p:cNvSpPr>
            <a:spLocks noGrp="1"/>
          </p:cNvSpPr>
          <p:nvPr/>
        </p:nvSpPr>
        <p:spPr>
          <a:xfrm>
            <a:off x="4533900" y="27241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团队模式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AC779E-2464-4F32-902F-D5385B5D4B7D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E02A31-9A3B-4A6F-B3A6-1960390B4FFB}"/>
              </a:ext>
            </a:extLst>
          </p:cNvPr>
          <p:cNvSpPr>
            <a:spLocks noGrp="1"/>
          </p:cNvSpPr>
          <p:nvPr/>
        </p:nvSpPr>
        <p:spPr>
          <a:xfrm>
            <a:off x="4743450" y="333375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开始有 shared fixtures 和 review queue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E70D9BD-883C-43EF-AE66-33E0454D896F}"/>
              </a:ext>
            </a:extLst>
          </p:cNvPr>
          <p:cNvSpPr>
            <a:spLocks noGrp="1"/>
          </p:cNvSpPr>
          <p:nvPr/>
        </p:nvSpPr>
        <p:spPr>
          <a:xfrm>
            <a:off x="4533900" y="38862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3AF066-FBAE-4462-B190-A1432DCD0BF3}"/>
              </a:ext>
            </a:extLst>
          </p:cNvPr>
          <p:cNvSpPr>
            <a:spLocks noGrp="1"/>
          </p:cNvSpPr>
          <p:nvPr/>
        </p:nvSpPr>
        <p:spPr>
          <a:xfrm>
            <a:off x="4743450" y="388620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promoted 变成团队资产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CE28020-4B77-4670-8F1A-79C88177B953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8CC62FE-0018-4FAB-BAE5-5496D4C35B45}"/>
              </a:ext>
            </a:extLst>
          </p:cNvPr>
          <p:cNvSpPr>
            <a:spLocks noGrp="1"/>
          </p:cNvSpPr>
          <p:nvPr/>
        </p:nvSpPr>
        <p:spPr>
          <a:xfrm>
            <a:off x="4743450" y="443865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重点变成“别人能不能安全复用”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8B04ECE-0A62-4896-8C85-AB97C59B6D59}"/>
              </a:ext>
            </a:extLst>
          </p:cNvPr>
          <p:cNvSpPr>
            <a:spLocks noGrp="1"/>
          </p:cNvSpPr>
          <p:nvPr/>
        </p:nvSpPr>
        <p:spPr>
          <a:xfrm>
            <a:off x="7924800" y="1981200"/>
            <a:ext cx="3238500" cy="3200400"/>
          </a:xfrm>
          <a:prstGeom prst="roundRect">
            <a:avLst>
              <a:gd name="adj" fmla="val 7143"/>
            </a:avLst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08F968D-F625-45FD-B809-8A96201B5BDC}"/>
              </a:ext>
            </a:extLst>
          </p:cNvPr>
          <p:cNvSpPr>
            <a:spLocks noGrp="1"/>
          </p:cNvSpPr>
          <p:nvPr/>
        </p:nvSpPr>
        <p:spPr>
          <a:xfrm>
            <a:off x="8153400" y="220980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0">
            <a:solidFill>
              <a:srgbClr val="FFFDF8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044FF9D-4ED7-497F-AFF1-756968316A88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1314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96A1B"/>
                </a:solidFill>
              </a:defRPr>
            </a:pPr>
            <a:r>
              <a:rPr sz="900" b="1" dirty="0" err="1">
                <a:solidFill>
                  <a:srgbClr val="C96A1B"/>
                </a:solidFill>
              </a:rPr>
              <a:t>最后蒸馏的是整组</a:t>
            </a:r>
            <a:endParaRPr sz="900" b="1" dirty="0">
              <a:solidFill>
                <a:srgbClr val="C96A1B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2C25F38-FD10-49DF-B3B8-045771CB076B}"/>
              </a:ext>
            </a:extLst>
          </p:cNvPr>
          <p:cNvSpPr>
            <a:spLocks noGrp="1"/>
          </p:cNvSpPr>
          <p:nvPr/>
        </p:nvSpPr>
        <p:spPr>
          <a:xfrm>
            <a:off x="8153400" y="27241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项目组模式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DEF1AD0-92B4-4B0E-87F7-90BE2C0B78EB}"/>
              </a:ext>
            </a:extLst>
          </p:cNvPr>
          <p:cNvSpPr>
            <a:spLocks noGrp="1"/>
          </p:cNvSpPr>
          <p:nvPr/>
        </p:nvSpPr>
        <p:spPr>
          <a:xfrm>
            <a:off x="8153400" y="33337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7631E1-D88D-485E-AB8A-15DD4D574F38}"/>
              </a:ext>
            </a:extLst>
          </p:cNvPr>
          <p:cNvSpPr>
            <a:spLocks noGrp="1"/>
          </p:cNvSpPr>
          <p:nvPr/>
        </p:nvSpPr>
        <p:spPr>
          <a:xfrm>
            <a:off x="8362950" y="333375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多个团队共用一张能力网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5825695-927F-4F7D-99C9-B5DDD8D9E479}"/>
              </a:ext>
            </a:extLst>
          </p:cNvPr>
          <p:cNvSpPr>
            <a:spLocks noGrp="1"/>
          </p:cNvSpPr>
          <p:nvPr/>
        </p:nvSpPr>
        <p:spPr>
          <a:xfrm>
            <a:off x="8153400" y="38862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7732BD9-BCAA-4C11-B644-CC340201A8C8}"/>
              </a:ext>
            </a:extLst>
          </p:cNvPr>
          <p:cNvSpPr>
            <a:spLocks noGrp="1"/>
          </p:cNvSpPr>
          <p:nvPr/>
        </p:nvSpPr>
        <p:spPr>
          <a:xfrm>
            <a:off x="8362950" y="388620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相同目的合并，不同环境保留分支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9576A8B-C997-4992-B7C5-7EB08EBA0821}"/>
              </a:ext>
            </a:extLst>
          </p:cNvPr>
          <p:cNvSpPr>
            <a:spLocks noGrp="1"/>
          </p:cNvSpPr>
          <p:nvPr/>
        </p:nvSpPr>
        <p:spPr>
          <a:xfrm>
            <a:off x="8153400" y="44386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8023229-7265-4185-9875-CD2E7D359364}"/>
              </a:ext>
            </a:extLst>
          </p:cNvPr>
          <p:cNvSpPr>
            <a:spLocks noGrp="1"/>
          </p:cNvSpPr>
          <p:nvPr/>
        </p:nvSpPr>
        <p:spPr>
          <a:xfrm>
            <a:off x="8362950" y="4438650"/>
            <a:ext cx="2171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手艺开始变成组织资产</a:t>
            </a:r>
          </a:p>
        </p:txBody>
      </p:sp>
    </p:spTree>
    <p:extLst>
      <p:ext uri="{BB962C8B-B14F-4D97-AF65-F5344CB8AC3E}">
        <p14:creationId xmlns:p14="http://schemas.microsoft.com/office/powerpoint/2010/main" val="1896192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93432A22-01D7-4765-AC18-B8143251BB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6A1B"/>
          </a:solidFill>
          <a:ln w="0">
            <a:solidFill>
              <a:srgbClr val="C96A1B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40E96EC-5EE4-433A-A46C-AF53087F0BD8}"/>
              </a:ext>
            </a:extLst>
          </p:cNvPr>
          <p:cNvSpPr>
            <a:spLocks noGrp="1"/>
          </p:cNvSpPr>
          <p:nvPr/>
        </p:nvSpPr>
        <p:spPr>
          <a:xfrm>
            <a:off x="9601200" y="-1619250"/>
            <a:ext cx="3714750" cy="3714750"/>
          </a:xfrm>
          <a:prstGeom prst="ellipse">
            <a:avLst/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583E3A79-112A-4CAE-AB68-CBB1307F5AC1}"/>
              </a:ext>
            </a:extLst>
          </p:cNvPr>
          <p:cNvSpPr>
            <a:spLocks noGrp="1"/>
          </p:cNvSpPr>
          <p:nvPr/>
        </p:nvSpPr>
        <p:spPr>
          <a:xfrm>
            <a:off x="9906000" y="4953000"/>
            <a:ext cx="2095500" cy="2095500"/>
          </a:xfrm>
          <a:prstGeom prst="ellipse">
            <a:avLst/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DED98D-48A5-4C4D-ADD9-E5C4BAE4A964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light internal pre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D17F23-29EC-4036-A512-D9F1EDBC7B8E}"/>
              </a:ext>
            </a:extLst>
          </p:cNvPr>
          <p:cNvSpPr>
            <a:spLocks noGrp="1"/>
          </p:cNvSpPr>
          <p:nvPr/>
        </p:nvSpPr>
        <p:spPr>
          <a:xfrm>
            <a:off x="10858500" y="2286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6/8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EBAA739-1BC4-4580-9EB6-6F9771B75F74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唯一长得像前台的地方，大概是审查台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49D041-56EB-4714-9EEB-B4E25DA45911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平时无感；真要看东西时，才 pull 出一个能做决定的界面。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C933328-5625-4489-8991-A22B8C2095AA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2209800" cy="3524250"/>
          </a:xfrm>
          <a:prstGeom prst="roundRect">
            <a:avLst>
              <a:gd name="adj" fmla="val 10345"/>
            </a:avLst>
          </a:prstGeom>
          <a:solidFill>
            <a:srgbClr val="FFFDF8"/>
          </a:solidFill>
          <a:ln w="9525">
            <a:solidFill>
              <a:srgbClr val="D8CD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5C739DF-D149-4379-B811-D0409923DA6F}"/>
              </a:ext>
            </a:extLst>
          </p:cNvPr>
          <p:cNvSpPr>
            <a:spLocks noGrp="1"/>
          </p:cNvSpPr>
          <p:nvPr/>
        </p:nvSpPr>
        <p:spPr>
          <a:xfrm>
            <a:off x="914400" y="20383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待审队列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73C6E3B-1160-455B-86A8-3E48E02B6CC5}"/>
              </a:ext>
            </a:extLst>
          </p:cNvPr>
          <p:cNvSpPr>
            <a:spLocks noGrp="1"/>
          </p:cNvSpPr>
          <p:nvPr/>
        </p:nvSpPr>
        <p:spPr>
          <a:xfrm>
            <a:off x="914400" y="2571750"/>
            <a:ext cx="1752600" cy="609600"/>
          </a:xfrm>
          <a:prstGeom prst="roundRect">
            <a:avLst>
              <a:gd name="adj" fmla="val 25000"/>
            </a:avLst>
          </a:prstGeom>
          <a:solidFill>
            <a:srgbClr val="DDEFEA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3557F2-82B0-4C46-964E-061DC05B260E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rev-014  ambiguous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0CFF9E5-393E-49BE-98DF-9675D2634DA0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1752600" cy="609600"/>
          </a:xfrm>
          <a:prstGeom prst="roundRect">
            <a:avLst>
              <a:gd name="adj" fmla="val 25000"/>
            </a:avLst>
          </a:prstGeom>
          <a:solidFill>
            <a:srgbClr val="F2DDC9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393D3-EB55-430C-8CF0-8809EFEE5422}"/>
              </a:ext>
            </a:extLst>
          </p:cNvPr>
          <p:cNvSpPr>
            <a:spLocks noGrp="1"/>
          </p:cNvSpPr>
          <p:nvPr/>
        </p:nvSpPr>
        <p:spPr>
          <a:xfrm>
            <a:off x="1047750" y="36385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rev-015  path-b pin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3529142-AADA-4D40-B41B-AE86651DA0B0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1752600" cy="609600"/>
          </a:xfrm>
          <a:prstGeom prst="roundRect">
            <a:avLst>
              <a:gd name="adj" fmla="val 25000"/>
            </a:avLst>
          </a:prstGeom>
          <a:solidFill>
            <a:srgbClr val="EDE4D7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C2F5DA-B79D-47BC-B3D1-2030BB5FCC22}"/>
              </a:ext>
            </a:extLst>
          </p:cNvPr>
          <p:cNvSpPr>
            <a:spLocks noGrp="1"/>
          </p:cNvSpPr>
          <p:nvPr/>
        </p:nvSpPr>
        <p:spPr>
          <a:xfrm>
            <a:off x="1047750" y="449580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rev-016  expose check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C9F2B88-0396-469E-BC05-6A76DFA4A9F1}"/>
              </a:ext>
            </a:extLst>
          </p:cNvPr>
          <p:cNvSpPr>
            <a:spLocks noGrp="1"/>
          </p:cNvSpPr>
          <p:nvPr/>
        </p:nvSpPr>
        <p:spPr>
          <a:xfrm>
            <a:off x="3219450" y="1790700"/>
            <a:ext cx="4514850" cy="3524250"/>
          </a:xfrm>
          <a:prstGeom prst="roundRect">
            <a:avLst>
              <a:gd name="adj" fmla="val 6486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27EB29-6D8E-4F5F-BC75-53124D4B67A6}"/>
              </a:ext>
            </a:extLst>
          </p:cNvPr>
          <p:cNvSpPr>
            <a:spLocks noGrp="1"/>
          </p:cNvSpPr>
          <p:nvPr/>
        </p:nvSpPr>
        <p:spPr>
          <a:xfrm>
            <a:off x="3486150" y="2038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证据和比较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F1E8E4-6CC8-4A15-9783-6B63746ED9D9}"/>
              </a:ext>
            </a:extLst>
          </p:cNvPr>
          <p:cNvSpPr>
            <a:spLocks noGrp="1"/>
          </p:cNvSpPr>
          <p:nvPr/>
        </p:nvSpPr>
        <p:spPr>
          <a:xfrm>
            <a:off x="3486150" y="25908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882F97-50C8-4B2B-9376-4D405E949EF1}"/>
              </a:ext>
            </a:extLst>
          </p:cNvPr>
          <p:cNvSpPr>
            <a:spLocks noGrp="1"/>
          </p:cNvSpPr>
          <p:nvPr/>
        </p:nvSpPr>
        <p:spPr>
          <a:xfrm>
            <a:off x="3695700" y="25908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系统建议：`same_purpose_new_branch`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1FC860-19C4-4641-9B74-9BFEA8DAC9C4}"/>
              </a:ext>
            </a:extLst>
          </p:cNvPr>
          <p:cNvSpPr>
            <a:spLocks noGrp="1"/>
          </p:cNvSpPr>
          <p:nvPr/>
        </p:nvSpPr>
        <p:spPr>
          <a:xfrm>
            <a:off x="3486150" y="3086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1D43EB-06AE-482D-93B0-C9BBF1AA3DFB}"/>
              </a:ext>
            </a:extLst>
          </p:cNvPr>
          <p:cNvSpPr>
            <a:spLocks noGrp="1"/>
          </p:cNvSpPr>
          <p:nvPr/>
        </p:nvSpPr>
        <p:spPr>
          <a:xfrm>
            <a:off x="3695700" y="30861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目标能力：`doc-to-markdown`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0502E5-932D-42ED-9979-4F795A24D159}"/>
              </a:ext>
            </a:extLst>
          </p:cNvPr>
          <p:cNvSpPr>
            <a:spLocks noGrp="1"/>
          </p:cNvSpPr>
          <p:nvPr/>
        </p:nvSpPr>
        <p:spPr>
          <a:xfrm>
            <a:off x="3486150" y="35814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96052A9-66DE-41BA-A853-D67549F5174C}"/>
              </a:ext>
            </a:extLst>
          </p:cNvPr>
          <p:cNvSpPr>
            <a:spLocks noGrp="1"/>
          </p:cNvSpPr>
          <p:nvPr/>
        </p:nvSpPr>
        <p:spPr>
          <a:xfrm>
            <a:off x="3695700" y="35814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旧分支：generic(markitdown fallback)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55B35D6-B642-402C-92D2-D49884F3F5A7}"/>
              </a:ext>
            </a:extLst>
          </p:cNvPr>
          <p:cNvSpPr>
            <a:spLocks noGrp="1"/>
          </p:cNvSpPr>
          <p:nvPr/>
        </p:nvSpPr>
        <p:spPr>
          <a:xfrm>
            <a:off x="3486150" y="40767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005F08B-64C7-4D8D-AA06-F44EE1B24A24}"/>
              </a:ext>
            </a:extLst>
          </p:cNvPr>
          <p:cNvSpPr>
            <a:spLocks noGrp="1"/>
          </p:cNvSpPr>
          <p:nvPr/>
        </p:nvSpPr>
        <p:spPr>
          <a:xfrm>
            <a:off x="3695700" y="40767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新证据：保住了 xlsx sheet 名和图片引用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75BC86F-DF2D-4311-8F1B-AB0F929025E9}"/>
              </a:ext>
            </a:extLst>
          </p:cNvPr>
          <p:cNvSpPr>
            <a:spLocks noGrp="1"/>
          </p:cNvSpPr>
          <p:nvPr/>
        </p:nvSpPr>
        <p:spPr>
          <a:xfrm>
            <a:off x="3486150" y="45720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8D0D8A-DD20-4DB1-839F-63A4C4E605CA}"/>
              </a:ext>
            </a:extLst>
          </p:cNvPr>
          <p:cNvSpPr>
            <a:spLocks noGrp="1"/>
          </p:cNvSpPr>
          <p:nvPr/>
        </p:nvSpPr>
        <p:spPr>
          <a:xfrm>
            <a:off x="3695700" y="4572000"/>
            <a:ext cx="3486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风险：依赖更重，回归样本还不够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9929650-4872-4DDC-B2C4-A3127850CDAA}"/>
              </a:ext>
            </a:extLst>
          </p:cNvPr>
          <p:cNvSpPr>
            <a:spLocks noGrp="1"/>
          </p:cNvSpPr>
          <p:nvPr/>
        </p:nvSpPr>
        <p:spPr>
          <a:xfrm>
            <a:off x="3486150" y="4800600"/>
            <a:ext cx="3695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C96A1B"/>
                </a:solidFill>
              </a:defRPr>
            </a:pPr>
            <a:r>
              <a:rPr sz="1500" b="1">
                <a:solidFill>
                  <a:srgbClr val="C96A1B"/>
                </a:solidFill>
              </a:rPr>
              <a:t>这里才是人真正“看系统”的地方。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5A89161-FD8F-4BA5-B598-7BA0051D627F}"/>
              </a:ext>
            </a:extLst>
          </p:cNvPr>
          <p:cNvSpPr>
            <a:spLocks noGrp="1"/>
          </p:cNvSpPr>
          <p:nvPr/>
        </p:nvSpPr>
        <p:spPr>
          <a:xfrm>
            <a:off x="8058150" y="1790700"/>
            <a:ext cx="2952750" cy="3524250"/>
          </a:xfrm>
          <a:prstGeom prst="roundRect">
            <a:avLst>
              <a:gd name="adj" fmla="val 7742"/>
            </a:avLst>
          </a:prstGeom>
          <a:solidFill>
            <a:srgbClr val="24211D"/>
          </a:solidFill>
          <a:ln w="0">
            <a:solidFill>
              <a:srgbClr val="2421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B40CC63-5EFE-47A7-A88C-5903F4782204}"/>
              </a:ext>
            </a:extLst>
          </p:cNvPr>
          <p:cNvSpPr>
            <a:spLocks noGrp="1"/>
          </p:cNvSpPr>
          <p:nvPr/>
        </p:nvSpPr>
        <p:spPr>
          <a:xfrm>
            <a:off x="8324850" y="20383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动作面板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7D98866-DE5A-4719-B065-FCEA0E7504BC}"/>
              </a:ext>
            </a:extLst>
          </p:cNvPr>
          <p:cNvSpPr>
            <a:spLocks noGrp="1"/>
          </p:cNvSpPr>
          <p:nvPr/>
        </p:nvSpPr>
        <p:spPr>
          <a:xfrm>
            <a:off x="8324850" y="2609850"/>
            <a:ext cx="2095500" cy="476250"/>
          </a:xfrm>
          <a:prstGeom prst="roundRect">
            <a:avLst>
              <a:gd name="adj" fmla="val 50000"/>
            </a:avLst>
          </a:prstGeom>
          <a:solidFill>
            <a:srgbClr val="F4D7B7"/>
          </a:solidFill>
          <a:ln w="0">
            <a:solidFill>
              <a:srgbClr val="F4D7B7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54879B-3518-4DE1-A28F-DBB709ED5147}"/>
              </a:ext>
            </a:extLst>
          </p:cNvPr>
          <p:cNvSpPr>
            <a:spLocks noGrp="1"/>
          </p:cNvSpPr>
          <p:nvPr/>
        </p:nvSpPr>
        <p:spPr>
          <a:xfrm>
            <a:off x="8515350" y="275272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approve new branch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A87B331-6EFB-415F-8B35-73F5A38D128D}"/>
              </a:ext>
            </a:extLst>
          </p:cNvPr>
          <p:cNvSpPr>
            <a:spLocks noGrp="1"/>
          </p:cNvSpPr>
          <p:nvPr/>
        </p:nvSpPr>
        <p:spPr>
          <a:xfrm>
            <a:off x="8324850" y="3333750"/>
            <a:ext cx="2095500" cy="476250"/>
          </a:xfrm>
          <a:prstGeom prst="roundRect">
            <a:avLst>
              <a:gd name="adj" fmla="val 50000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BA66EC-CDA3-4D48-AEB1-C12155CF6A17}"/>
              </a:ext>
            </a:extLst>
          </p:cNvPr>
          <p:cNvSpPr>
            <a:spLocks noGrp="1"/>
          </p:cNvSpPr>
          <p:nvPr/>
        </p:nvSpPr>
        <p:spPr>
          <a:xfrm>
            <a:off x="8515350" y="347662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keep provisional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41C529C-4001-42DF-9EBF-7F86D1E85B72}"/>
              </a:ext>
            </a:extLst>
          </p:cNvPr>
          <p:cNvSpPr>
            <a:spLocks noGrp="1"/>
          </p:cNvSpPr>
          <p:nvPr/>
        </p:nvSpPr>
        <p:spPr>
          <a:xfrm>
            <a:off x="8324850" y="4057650"/>
            <a:ext cx="2095500" cy="476250"/>
          </a:xfrm>
          <a:prstGeom prst="roundRect">
            <a:avLst>
              <a:gd name="adj" fmla="val 50000"/>
            </a:avLst>
          </a:prstGeom>
          <a:solidFill>
            <a:srgbClr val="EFE7DB"/>
          </a:solidFill>
          <a:ln w="0">
            <a:solidFill>
              <a:srgbClr val="EFE7DB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57DD3FE-797E-4C64-90FF-A5CE78F6B679}"/>
              </a:ext>
            </a:extLst>
          </p:cNvPr>
          <p:cNvSpPr>
            <a:spLocks noGrp="1"/>
          </p:cNvSpPr>
          <p:nvPr/>
        </p:nvSpPr>
        <p:spPr>
          <a:xfrm>
            <a:off x="8515350" y="4200525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171717"/>
                </a:solidFill>
              </a:defRPr>
            </a:pPr>
            <a:r>
              <a:rPr sz="1125" b="1">
                <a:solidFill>
                  <a:srgbClr val="171717"/>
                </a:solidFill>
              </a:rPr>
              <a:t>defer for more evidence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0F92F4B-681B-4B25-800E-62396B67B8E2}"/>
              </a:ext>
            </a:extLst>
          </p:cNvPr>
          <p:cNvSpPr>
            <a:spLocks noGrp="1"/>
          </p:cNvSpPr>
          <p:nvPr/>
        </p:nvSpPr>
        <p:spPr>
          <a:xfrm>
            <a:off x="8324850" y="478155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7E5E4"/>
                </a:solidFill>
              </a:defRPr>
            </a:pPr>
            <a:r>
              <a:rPr sz="1275" b="0">
                <a:solidFill>
                  <a:srgbClr val="E7E5E4"/>
                </a:solidFill>
              </a:rPr>
              <a:t>现在还没做，但未来最像“前台”的大概就这一页。</a:t>
            </a:r>
          </a:p>
        </p:txBody>
      </p:sp>
    </p:spTree>
    <p:extLst>
      <p:ext uri="{BB962C8B-B14F-4D97-AF65-F5344CB8AC3E}">
        <p14:creationId xmlns:p14="http://schemas.microsoft.com/office/powerpoint/2010/main" val="1187536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E8B2EE7A-E157-4C14-8C44-B565E58CCB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6A1B"/>
          </a:solidFill>
          <a:ln w="0">
            <a:solidFill>
              <a:srgbClr val="C96A1B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D491F08-BE4B-4D80-AFD1-117826FBD5DE}"/>
              </a:ext>
            </a:extLst>
          </p:cNvPr>
          <p:cNvSpPr>
            <a:spLocks noGrp="1"/>
          </p:cNvSpPr>
          <p:nvPr/>
        </p:nvSpPr>
        <p:spPr>
          <a:xfrm>
            <a:off x="9601200" y="-1619250"/>
            <a:ext cx="3714750" cy="3714750"/>
          </a:xfrm>
          <a:prstGeom prst="ellipse">
            <a:avLst/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3A83D8F-2BA7-4B55-9605-DD8BE0FD384C}"/>
              </a:ext>
            </a:extLst>
          </p:cNvPr>
          <p:cNvSpPr>
            <a:spLocks noGrp="1"/>
          </p:cNvSpPr>
          <p:nvPr/>
        </p:nvSpPr>
        <p:spPr>
          <a:xfrm>
            <a:off x="9906000" y="4953000"/>
            <a:ext cx="2095500" cy="2095500"/>
          </a:xfrm>
          <a:prstGeom prst="ellipse">
            <a:avLst/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63245E-B084-4212-AD9E-2314717A7ADE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light internal pre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5AE48B2-67B0-4204-A3DF-F37EDF2A8869}"/>
              </a:ext>
            </a:extLst>
          </p:cNvPr>
          <p:cNvSpPr>
            <a:spLocks noGrp="1"/>
          </p:cNvSpPr>
          <p:nvPr/>
        </p:nvSpPr>
        <p:spPr>
          <a:xfrm>
            <a:off x="10858500" y="2286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7/8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847E8E-AB87-4816-BDAC-91342DADC300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171717"/>
                </a:solidFill>
              </a:defRPr>
            </a:pPr>
            <a:r>
              <a:rPr sz="2625" b="1">
                <a:solidFill>
                  <a:srgbClr val="171717"/>
                </a:solidFill>
              </a:rPr>
              <a:t>技术栈和预期效果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4AC59AB-24E6-4B34-985E-C32D024C2064}"/>
              </a:ext>
            </a:extLst>
          </p:cNvPr>
          <p:cNvSpPr>
            <a:spLocks noGrp="1"/>
          </p:cNvSpPr>
          <p:nvPr/>
        </p:nvSpPr>
        <p:spPr>
          <a:xfrm>
            <a:off x="685800" y="1085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7534E"/>
                </a:solidFill>
              </a:defRPr>
            </a:pPr>
            <a:r>
              <a:rPr sz="1350" b="0">
                <a:solidFill>
                  <a:srgbClr val="57534E"/>
                </a:solidFill>
              </a:rPr>
              <a:t>先用最小技术栈跑通，再用最朴素的效果预期判断值不值得放大。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6C8706C-6795-44D9-98BE-6C31981B57B7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2095500" cy="1390650"/>
          </a:xfrm>
          <a:prstGeom prst="roundRect">
            <a:avLst>
              <a:gd name="adj" fmla="val 16438"/>
            </a:avLst>
          </a:prstGeom>
          <a:solidFill>
            <a:srgbClr val="FFFDF8"/>
          </a:solidFill>
          <a:ln w="9525">
            <a:solidFill>
              <a:srgbClr val="D8CD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9515C9-F159-4F0C-83C5-E2C7FD130C0D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Capture Hook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597776-6F63-41F8-9171-0A3FF5F33575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极轻采集，只写原始事件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B7F047E-2D3F-4B3C-93A7-B24125A02103}"/>
              </a:ext>
            </a:extLst>
          </p:cNvPr>
          <p:cNvSpPr>
            <a:spLocks noGrp="1"/>
          </p:cNvSpPr>
          <p:nvPr/>
        </p:nvSpPr>
        <p:spPr>
          <a:xfrm>
            <a:off x="3048000" y="1962150"/>
            <a:ext cx="2095500" cy="1390650"/>
          </a:xfrm>
          <a:prstGeom prst="roundRect">
            <a:avLst>
              <a:gd name="adj" fmla="val 16438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55F0D5-314B-48A9-B2F4-F301CF4F0169}"/>
              </a:ext>
            </a:extLst>
          </p:cNvPr>
          <p:cNvSpPr>
            <a:spLocks noGrp="1"/>
          </p:cNvSpPr>
          <p:nvPr/>
        </p:nvSpPr>
        <p:spPr>
          <a:xfrm>
            <a:off x="3219450" y="2247900"/>
            <a:ext cx="1924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 dirty="0">
                <a:solidFill>
                  <a:srgbClr val="171717"/>
                </a:solidFill>
              </a:rPr>
              <a:t>Distiller Daemon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D62809-9742-48AB-ADCE-69387FAF93A1}"/>
              </a:ext>
            </a:extLst>
          </p:cNvPr>
          <p:cNvSpPr>
            <a:spLocks noGrp="1"/>
          </p:cNvSpPr>
          <p:nvPr/>
        </p:nvSpPr>
        <p:spPr>
          <a:xfrm>
            <a:off x="3219450" y="26860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Replay / Gate / Contract / Composer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68A3FB5-A8E8-4E8D-AAA1-3D266EA81000}"/>
              </a:ext>
            </a:extLst>
          </p:cNvPr>
          <p:cNvSpPr>
            <a:spLocks noGrp="1"/>
          </p:cNvSpPr>
          <p:nvPr/>
        </p:nvSpPr>
        <p:spPr>
          <a:xfrm>
            <a:off x="5410200" y="1962150"/>
            <a:ext cx="2095500" cy="1390650"/>
          </a:xfrm>
          <a:prstGeom prst="roundRect">
            <a:avLst>
              <a:gd name="adj" fmla="val 16438"/>
            </a:avLst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D22C9C-011A-4E1A-9E00-CF84DA088CC7}"/>
              </a:ext>
            </a:extLst>
          </p:cNvPr>
          <p:cNvSpPr>
            <a:spLocks noGrp="1"/>
          </p:cNvSpPr>
          <p:nvPr/>
        </p:nvSpPr>
        <p:spPr>
          <a:xfrm>
            <a:off x="5581650" y="2247900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MCP Sidecar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BB61B8-B7E9-4958-920F-2B812EBF9533}"/>
              </a:ext>
            </a:extLst>
          </p:cNvPr>
          <p:cNvSpPr>
            <a:spLocks noGrp="1"/>
          </p:cNvSpPr>
          <p:nvPr/>
        </p:nvSpPr>
        <p:spPr>
          <a:xfrm>
            <a:off x="5581650" y="2686050"/>
            <a:ext cx="1752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统一调用入口 + warm-start 回灌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B95E51E-8497-4555-8AE8-3B49D1671248}"/>
              </a:ext>
            </a:extLst>
          </p:cNvPr>
          <p:cNvSpPr>
            <a:spLocks noGrp="1"/>
          </p:cNvSpPr>
          <p:nvPr/>
        </p:nvSpPr>
        <p:spPr>
          <a:xfrm>
            <a:off x="7924800" y="1790700"/>
            <a:ext cx="3086100" cy="3600450"/>
          </a:xfrm>
          <a:prstGeom prst="roundRect">
            <a:avLst>
              <a:gd name="adj" fmla="val 7407"/>
            </a:avLst>
          </a:prstGeom>
          <a:solidFill>
            <a:srgbClr val="FFFDF8"/>
          </a:solidFill>
          <a:ln w="9525">
            <a:solidFill>
              <a:srgbClr val="D8CDB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3A80A81-06B7-4DBB-9F1F-40AC6C40AF8D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内部预期效果</a:t>
            </a:r>
          </a:p>
        </p:txBody>
      </p:sp>
      <p:graphicFrame>
        <p:nvGraphicFramePr>
          <p:cNvPr id="46" name="Chart"/>
          <p:cNvGraphicFramePr/>
          <p:nvPr/>
        </p:nvGraphicFramePr>
        <p:xfrm>
          <a:off x="8191500" y="2571750"/>
          <a:ext cx="238125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59C67782-689E-4A34-AE4D-DC5EAEEAAD06}"/>
              </a:ext>
            </a:extLst>
          </p:cNvPr>
          <p:cNvSpPr>
            <a:spLocks noGrp="1"/>
          </p:cNvSpPr>
          <p:nvPr/>
        </p:nvSpPr>
        <p:spPr>
          <a:xfrm>
            <a:off x="8191500" y="4610100"/>
            <a:ext cx="2209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7534E"/>
                </a:solidFill>
              </a:defRPr>
            </a:pPr>
            <a:r>
              <a:rPr sz="1200" b="0">
                <a:solidFill>
                  <a:srgbClr val="57534E"/>
                </a:solidFill>
              </a:rPr>
              <a:t>这不是实测宣传数据，只是内部讨论优先级的预演口径。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3AC3AB8-1F5B-4267-8D0C-7E290D0BFE74}"/>
              </a:ext>
            </a:extLst>
          </p:cNvPr>
          <p:cNvSpPr>
            <a:spLocks noGrp="1"/>
          </p:cNvSpPr>
          <p:nvPr/>
        </p:nvSpPr>
        <p:spPr>
          <a:xfrm>
            <a:off x="685800" y="3981450"/>
            <a:ext cx="672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判断项目值不值得继续，不看“沉淀了多少”，主要看三件事：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5AD8D2-EC2E-4614-86EE-5D77B2962147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826F0E-B4E4-4720-9D84-F474A7C22ECD}"/>
              </a:ext>
            </a:extLst>
          </p:cNvPr>
          <p:cNvSpPr>
            <a:spLocks noGrp="1"/>
          </p:cNvSpPr>
          <p:nvPr/>
        </p:nvSpPr>
        <p:spPr>
          <a:xfrm>
            <a:off x="895350" y="4457700"/>
            <a:ext cx="617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warm-start 命中后，大家是不是真的直接复用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860D1E0-C8A4-4FBD-81D5-47E6D463FA4E}"/>
              </a:ext>
            </a:extLst>
          </p:cNvPr>
          <p:cNvSpPr>
            <a:spLocks noGrp="1"/>
          </p:cNvSpPr>
          <p:nvPr/>
        </p:nvSpPr>
        <p:spPr>
          <a:xfrm>
            <a:off x="685800" y="48768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F813B76-8209-494F-95AD-110F30602B08}"/>
              </a:ext>
            </a:extLst>
          </p:cNvPr>
          <p:cNvSpPr>
            <a:spLocks noGrp="1"/>
          </p:cNvSpPr>
          <p:nvPr/>
        </p:nvSpPr>
        <p:spPr>
          <a:xfrm>
            <a:off x="895350" y="4876800"/>
            <a:ext cx="617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候选能力能不能长成一个像 `doc2md` 那样的成熟目的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809C9AE-2E24-4B62-9FD7-E0EFEDBCD86A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4D735B2-59FE-4688-9682-E70DFF2A24F4}"/>
              </a:ext>
            </a:extLst>
          </p:cNvPr>
          <p:cNvSpPr>
            <a:spLocks noGrp="1"/>
          </p:cNvSpPr>
          <p:nvPr/>
        </p:nvSpPr>
        <p:spPr>
          <a:xfrm>
            <a:off x="895350" y="5295900"/>
            <a:ext cx="617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1717"/>
                </a:solidFill>
              </a:defRPr>
            </a:pPr>
            <a:r>
              <a:rPr sz="1350" b="0">
                <a:solidFill>
                  <a:srgbClr val="171717"/>
                </a:solidFill>
              </a:rPr>
              <a:t>团队接手时，是不是真的开始少踩一遍同样的坑</a:t>
            </a:r>
          </a:p>
        </p:txBody>
      </p:sp>
    </p:spTree>
    <p:extLst>
      <p:ext uri="{BB962C8B-B14F-4D97-AF65-F5344CB8AC3E}">
        <p14:creationId xmlns:p14="http://schemas.microsoft.com/office/powerpoint/2010/main" val="403243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D7628B5E-4B63-4645-8EFA-37730C0DA4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96A1B"/>
          </a:solidFill>
          <a:ln w="0">
            <a:solidFill>
              <a:srgbClr val="C96A1B"/>
            </a:solidFill>
            <a:prstDash val="solid"/>
          </a:ln>
        </p:spPr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1968A7E5-33E6-41F5-A72F-A5121D94A169}"/>
              </a:ext>
            </a:extLst>
          </p:cNvPr>
          <p:cNvSpPr>
            <a:spLocks noGrp="1"/>
          </p:cNvSpPr>
          <p:nvPr/>
        </p:nvSpPr>
        <p:spPr>
          <a:xfrm>
            <a:off x="9601200" y="-1619250"/>
            <a:ext cx="3714750" cy="3714750"/>
          </a:xfrm>
          <a:prstGeom prst="ellipse">
            <a:avLst/>
          </a:prstGeom>
          <a:solidFill>
            <a:srgbClr val="F2DDC9"/>
          </a:solidFill>
          <a:ln w="0">
            <a:solidFill>
              <a:srgbClr val="F2DDC9"/>
            </a:solidFill>
            <a:prstDash val="solid"/>
          </a:ln>
        </p:spPr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0CA0102-D9FD-4255-8436-0A8E1A28D249}"/>
              </a:ext>
            </a:extLst>
          </p:cNvPr>
          <p:cNvSpPr>
            <a:spLocks noGrp="1"/>
          </p:cNvSpPr>
          <p:nvPr/>
        </p:nvSpPr>
        <p:spPr>
          <a:xfrm>
            <a:off x="9906000" y="4953000"/>
            <a:ext cx="2095500" cy="2095500"/>
          </a:xfrm>
          <a:prstGeom prst="ellipse">
            <a:avLst/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C82070-B435-4BF6-BA21-A0DEDE9D0177}"/>
              </a:ext>
            </a:extLst>
          </p:cNvPr>
          <p:cNvSpPr>
            <a:spLocks noGrp="1"/>
          </p:cNvSpPr>
          <p:nvPr/>
        </p:nvSpPr>
        <p:spPr>
          <a:xfrm>
            <a:off x="685800" y="2286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手艺人蒸馏器 xs / light internal pre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613570-E703-46E4-8D96-AA99EE10C947}"/>
              </a:ext>
            </a:extLst>
          </p:cNvPr>
          <p:cNvSpPr>
            <a:spLocks noGrp="1"/>
          </p:cNvSpPr>
          <p:nvPr/>
        </p:nvSpPr>
        <p:spPr>
          <a:xfrm>
            <a:off x="10858500" y="228600"/>
            <a:ext cx="647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7534E"/>
                </a:solidFill>
              </a:defRPr>
            </a:pPr>
            <a:r>
              <a:rPr sz="825" b="1">
                <a:solidFill>
                  <a:srgbClr val="57534E"/>
                </a:solidFill>
              </a:rPr>
              <a:t>8/8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D0D9E88-FCFE-4C24-94C4-3A412697AEDB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876300" cy="323850"/>
          </a:xfrm>
          <a:prstGeom prst="roundRect">
            <a:avLst>
              <a:gd name="adj" fmla="val 50000"/>
            </a:avLst>
          </a:prstGeom>
          <a:solidFill>
            <a:srgbClr val="DDEFEA"/>
          </a:solidFill>
          <a:ln w="0">
            <a:solidFill>
              <a:srgbClr val="DDEFEA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F23BC9-914A-446A-8D03-3C455A93A5F3}"/>
              </a:ext>
            </a:extLst>
          </p:cNvPr>
          <p:cNvSpPr>
            <a:spLocks noGrp="1"/>
          </p:cNvSpPr>
          <p:nvPr/>
        </p:nvSpPr>
        <p:spPr>
          <a:xfrm>
            <a:off x="819150" y="95250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closing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6BEFA9-5F7D-4A31-90C8-F56D4B57EC40}"/>
              </a:ext>
            </a:extLst>
          </p:cNvPr>
          <p:cNvSpPr>
            <a:spLocks noGrp="1"/>
          </p:cNvSpPr>
          <p:nvPr/>
        </p:nvSpPr>
        <p:spPr>
          <a:xfrm>
            <a:off x="685800" y="1447800"/>
            <a:ext cx="781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71717"/>
                </a:solidFill>
              </a:defRPr>
            </a:pPr>
            <a:r>
              <a:rPr sz="3750" b="1">
                <a:solidFill>
                  <a:srgbClr val="171717"/>
                </a:solidFill>
              </a:rPr>
              <a:t>先把一个目的炼成熟路，</a:t>
            </a:r>
          </a:p>
          <a:p>
            <a:pPr algn="l">
              <a:defRPr sz="3750" b="1">
                <a:solidFill>
                  <a:srgbClr val="171717"/>
                </a:solidFill>
              </a:defRPr>
            </a:pPr>
            <a:r>
              <a:rPr sz="3750" b="1">
                <a:solidFill>
                  <a:srgbClr val="171717"/>
                </a:solidFill>
              </a:rPr>
              <a:t>再把整个项目组炼成会做事的网。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1344F6B-DC8C-4DA9-9C4B-AFD7A4365C3D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6762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7534E"/>
                </a:solidFill>
              </a:defRPr>
            </a:pPr>
            <a:r>
              <a:rPr sz="1800" b="0">
                <a:solidFill>
                  <a:srgbClr val="57534E"/>
                </a:solidFill>
              </a:rPr>
              <a:t>如果这条路成立，手艺人蒸馏器最终沉淀的就不是某个人的脚本集合，而是整个项目组在真实工作里慢慢长出来的熟路资产。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205E17B-406E-4F4F-AD21-7DF23A0EA2BA}"/>
              </a:ext>
            </a:extLst>
          </p:cNvPr>
          <p:cNvSpPr>
            <a:spLocks noGrp="1"/>
          </p:cNvSpPr>
          <p:nvPr/>
        </p:nvSpPr>
        <p:spPr>
          <a:xfrm>
            <a:off x="7981950" y="1543050"/>
            <a:ext cx="3048000" cy="2857500"/>
          </a:xfrm>
          <a:prstGeom prst="roundRect">
            <a:avLst>
              <a:gd name="adj" fmla="val 8000"/>
            </a:avLst>
          </a:prstGeom>
          <a:solidFill>
            <a:srgbClr val="24211D"/>
          </a:solidFill>
          <a:ln w="0">
            <a:solidFill>
              <a:srgbClr val="24211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F665A99-0222-4062-BC2C-8934A26DA4C0}"/>
              </a:ext>
            </a:extLst>
          </p:cNvPr>
          <p:cNvSpPr>
            <a:spLocks noGrp="1"/>
          </p:cNvSpPr>
          <p:nvPr/>
        </p:nvSpPr>
        <p:spPr>
          <a:xfrm>
            <a:off x="8248650" y="18669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7E5E4"/>
                </a:solidFill>
              </a:defRPr>
            </a:pPr>
            <a:r>
              <a:rPr sz="1350" b="1">
                <a:solidFill>
                  <a:srgbClr val="E7E5E4"/>
                </a:solidFill>
              </a:rPr>
              <a:t>下一步只做三件事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B5786D-F468-4F85-ACFC-88FCA53178B9}"/>
              </a:ext>
            </a:extLst>
          </p:cNvPr>
          <p:cNvSpPr>
            <a:spLocks noGrp="1"/>
          </p:cNvSpPr>
          <p:nvPr/>
        </p:nvSpPr>
        <p:spPr>
          <a:xfrm>
            <a:off x="8248650" y="23622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84AE1F-0FFD-4F03-B6F4-7C9024F1FABA}"/>
              </a:ext>
            </a:extLst>
          </p:cNvPr>
          <p:cNvSpPr>
            <a:spLocks noGrp="1"/>
          </p:cNvSpPr>
          <p:nvPr/>
        </p:nvSpPr>
        <p:spPr>
          <a:xfrm>
            <a:off x="8458200" y="236220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先把文档转 markdown 这一条路跑熟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7A6767E-57B4-47EC-9EBF-5C605D55B1F7}"/>
              </a:ext>
            </a:extLst>
          </p:cNvPr>
          <p:cNvSpPr>
            <a:spLocks noGrp="1"/>
          </p:cNvSpPr>
          <p:nvPr/>
        </p:nvSpPr>
        <p:spPr>
          <a:xfrm>
            <a:off x="8248650" y="291465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2ADA7F-5EC0-4391-B7BA-15EB59F8FA83}"/>
              </a:ext>
            </a:extLst>
          </p:cNvPr>
          <p:cNvSpPr>
            <a:spLocks noGrp="1"/>
          </p:cNvSpPr>
          <p:nvPr/>
        </p:nvSpPr>
        <p:spPr>
          <a:xfrm>
            <a:off x="8458200" y="291465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先拿到第一个真实 warm-start 命中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36DB5F9-62BE-4667-87EB-45DCE2CF6109}"/>
              </a:ext>
            </a:extLst>
          </p:cNvPr>
          <p:cNvSpPr>
            <a:spLocks noGrp="1"/>
          </p:cNvSpPr>
          <p:nvPr/>
        </p:nvSpPr>
        <p:spPr>
          <a:xfrm>
            <a:off x="8248650" y="3467100"/>
            <a:ext cx="19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CF5226-2F3A-4781-8C84-047315DC8189}"/>
              </a:ext>
            </a:extLst>
          </p:cNvPr>
          <p:cNvSpPr>
            <a:spLocks noGrp="1"/>
          </p:cNvSpPr>
          <p:nvPr/>
        </p:nvSpPr>
        <p:spPr>
          <a:xfrm>
            <a:off x="8458200" y="3467100"/>
            <a:ext cx="19621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再决定要不要加固到团队和项目组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4D48D1-45E0-46CE-A1F7-90A6E06C19B9}"/>
              </a:ext>
            </a:extLst>
          </p:cNvPr>
          <p:cNvSpPr>
            <a:spLocks noGrp="1"/>
          </p:cNvSpPr>
          <p:nvPr/>
        </p:nvSpPr>
        <p:spPr>
          <a:xfrm>
            <a:off x="685800" y="5029200"/>
            <a:ext cx="723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C96A1B"/>
                </a:solidFill>
              </a:defRPr>
            </a:pPr>
            <a:r>
              <a:rPr sz="1575" b="1">
                <a:solidFill>
                  <a:srgbClr val="C96A1B"/>
                </a:solidFill>
              </a:rPr>
              <a:t>内部一句话：把社畜踩出来的活路，精细蒸馏成下次不用重写的熟路。</a:t>
            </a:r>
          </a:p>
        </p:txBody>
      </p:sp>
    </p:spTree>
    <p:extLst>
      <p:ext uri="{BB962C8B-B14F-4D97-AF65-F5344CB8AC3E}">
        <p14:creationId xmlns:p14="http://schemas.microsoft.com/office/powerpoint/2010/main" val="19824896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DocSecurity>0</DocSecurity>
  <PresentationFormat>宽屏</PresentationFormat>
  <Paragraphs>163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zhao yijian</cp:lastModifiedBy>
  <cp:revision>1</cp:revision>
  <dcterms:created xsi:type="dcterms:W3CDTF">2026-06-20T09:21:22Z</dcterms:created>
  <dcterms:modified xsi:type="dcterms:W3CDTF">2026-06-20T09:28:09Z</dcterms:modified>
</cp:coreProperties>
</file>